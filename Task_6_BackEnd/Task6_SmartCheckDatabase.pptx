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96" r:id="rId1"/>
  </p:sldMasterIdLst>
  <p:sldIdLst>
    <p:sldId id="256" r:id="rId2"/>
    <p:sldId id="257" r:id="rId3"/>
    <p:sldId id="258" r:id="rId4"/>
    <p:sldId id="259" r:id="rId5"/>
    <p:sldId id="269" r:id="rId6"/>
    <p:sldId id="260" r:id="rId7"/>
    <p:sldId id="262" r:id="rId8"/>
    <p:sldId id="261" r:id="rId9"/>
    <p:sldId id="263" r:id="rId10"/>
    <p:sldId id="264" r:id="rId11"/>
    <p:sldId id="265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68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010400" y="152399"/>
            <a:ext cx="1981200" cy="65562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2400" y="153923"/>
            <a:ext cx="6705600" cy="6553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10400" y="2052960"/>
            <a:ext cx="1981200" cy="1828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9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FA4D6DC1-81B7-4884-ACB5-E61F6F06151E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C0D71B6-DC1D-4958-9357-2541D34ACB4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457200" y="2052960"/>
            <a:ext cx="6324600" cy="1828800"/>
          </a:xfrm>
        </p:spPr>
        <p:txBody>
          <a:bodyPr/>
          <a:lstStyle>
            <a:lvl1pPr algn="r">
              <a:defRPr sz="42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D6DC1-81B7-4884-ACB5-E61F6F06151E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D71B6-DC1D-4958-9357-2541D34ACB4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010400" y="152399"/>
            <a:ext cx="1981200" cy="6556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2400" y="153923"/>
            <a:ext cx="6705600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62799" y="2892277"/>
            <a:ext cx="1600201" cy="1645920"/>
          </a:xfrm>
        </p:spPr>
        <p:txBody>
          <a:bodyPr anchor="ctr"/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A4D6DC1-81B7-4884-ACB5-E61F6F06151E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8C0D71B6-DC1D-4958-9357-2541D34ACB4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381000" y="2892277"/>
            <a:ext cx="6324600" cy="1645920"/>
          </a:xfrm>
        </p:spPr>
        <p:txBody>
          <a:bodyPr/>
          <a:lstStyle>
            <a:lvl1pPr algn="r">
              <a:defRPr sz="42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072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2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D6DC1-81B7-4884-ACB5-E61F6F06151E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D71B6-DC1D-4958-9357-2541D34ACB4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22438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399"/>
            <a:ext cx="4040188" cy="3687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399"/>
            <a:ext cx="4041775" cy="3687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D6DC1-81B7-4884-ACB5-E61F6F06151E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D71B6-DC1D-4958-9357-2541D34ACB4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D6DC1-81B7-4884-ACB5-E61F6F06151E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D71B6-DC1D-4958-9357-2541D34ACB4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2400" y="150919"/>
            <a:ext cx="8831802" cy="6556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D6DC1-81B7-4884-ACB5-E61F6F06151E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D71B6-DC1D-4958-9357-2541D34ACB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010400" y="150876"/>
            <a:ext cx="1981200" cy="65562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/>
          <p:cNvSpPr/>
          <p:nvPr/>
        </p:nvSpPr>
        <p:spPr>
          <a:xfrm>
            <a:off x="152400" y="152400"/>
            <a:ext cx="6705600" cy="6553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04800"/>
            <a:ext cx="58674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59752" y="2130552"/>
            <a:ext cx="1673352" cy="2816352"/>
          </a:xfrm>
        </p:spPr>
        <p:txBody>
          <a:bodyPr tIns="0"/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D6DC1-81B7-4884-ACB5-E61F6F06151E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C0D71B6-DC1D-4958-9357-2541D34ACB4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7159752" y="457200"/>
            <a:ext cx="1675660" cy="1673352"/>
          </a:xfrm>
        </p:spPr>
        <p:txBody>
          <a:bodyPr anchor="b"/>
          <a:lstStyle>
            <a:lvl1pPr algn="l">
              <a:defRPr sz="2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/>
          <p:cNvSpPr/>
          <p:nvPr/>
        </p:nvSpPr>
        <p:spPr>
          <a:xfrm>
            <a:off x="7010400" y="150876"/>
            <a:ext cx="1981200" cy="65562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2400" y="152400"/>
            <a:ext cx="6705600" cy="6553200"/>
          </a:xfrm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2800" y="2133600"/>
            <a:ext cx="1676400" cy="2971800"/>
          </a:xfrm>
        </p:spPr>
        <p:txBody>
          <a:bodyPr tIns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D6DC1-81B7-4884-ACB5-E61F6F06151E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D71B6-DC1D-4958-9357-2541D34ACB4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162800" y="460248"/>
            <a:ext cx="1676400" cy="1673352"/>
          </a:xfrm>
        </p:spPr>
        <p:txBody>
          <a:bodyPr anchor="b"/>
          <a:lstStyle>
            <a:lvl1pPr algn="l">
              <a:defRPr sz="2000" spc="15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D6DC1-81B7-4884-ACB5-E61F6F06151E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D71B6-DC1D-4958-9357-2541D34ACB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52400" y="147319"/>
            <a:ext cx="6705600" cy="6556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010400" y="147319"/>
            <a:ext cx="1956046" cy="6556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62800" y="274638"/>
            <a:ext cx="1676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D6DC1-81B7-4884-ACB5-E61F6F06151E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8C0D71B6-DC1D-4958-9357-2541D34ACB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2400" y="1634971"/>
            <a:ext cx="8831802" cy="50454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2399" y="152400"/>
            <a:ext cx="8814047" cy="13464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55847"/>
            <a:ext cx="8381260" cy="10543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719071"/>
            <a:ext cx="8407893" cy="4407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0888" y="6356350"/>
            <a:ext cx="2133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fld id="{FA4D6DC1-81B7-4884-ACB5-E61F6F06151E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48000" y="6356350"/>
            <a:ext cx="33528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34680" y="6355080"/>
            <a:ext cx="582966" cy="274320"/>
          </a:xfrm>
          <a:prstGeom prst="rect">
            <a:avLst/>
          </a:prstGeom>
          <a:ln w="19050">
            <a:noFill/>
          </a:ln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fld id="{8C0D71B6-DC1D-4958-9357-2541D34ACB4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200" kern="1200" cap="all" spc="200" baseline="0">
          <a:ln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sz="2000" kern="1200" spc="150" baseline="0">
          <a:solidFill>
            <a:schemeClr val="tx2"/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buClr>
          <a:schemeClr val="accent2"/>
        </a:buClr>
        <a:buFont typeface="Wingdings" pitchFamily="2" charset="2"/>
        <a:buChar char="§"/>
        <a:defRPr sz="1800" kern="1200" spc="100" baseline="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buClr>
          <a:schemeClr val="accent3"/>
        </a:buClr>
        <a:buFont typeface="Wingdings" pitchFamily="2" charset="2"/>
        <a:buChar char="§"/>
        <a:defRPr sz="1600" kern="1200" spc="100" baseline="0">
          <a:solidFill>
            <a:schemeClr val="tx2"/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buClr>
          <a:schemeClr val="accent4"/>
        </a:buClr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spcBef>
          <a:spcPct val="20000"/>
        </a:spcBef>
        <a:buClr>
          <a:schemeClr val="accent6"/>
        </a:buClr>
        <a:buFont typeface="Wingdings" pitchFamily="2" charset="2"/>
        <a:buChar char="§"/>
        <a:defRPr sz="1300" kern="1200" spc="100" baseline="0">
          <a:solidFill>
            <a:schemeClr val="tx2"/>
          </a:solidFill>
          <a:latin typeface="+mn-lt"/>
          <a:ea typeface="+mn-ea"/>
          <a:cs typeface="+mn-cs"/>
        </a:defRPr>
      </a:lvl5pPr>
      <a:lvl6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defTabSz="914400" rtl="0" eaLnBrk="1" latinLnBrk="0" hangingPunct="1">
        <a:spcBef>
          <a:spcPct val="20000"/>
        </a:spcBef>
        <a:buClr>
          <a:schemeClr val="accent2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5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Building the Foundation for "Where Presence Meets Precision"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600200"/>
            <a:ext cx="6324600" cy="1828800"/>
          </a:xfrm>
        </p:spPr>
        <p:txBody>
          <a:bodyPr>
            <a:normAutofit fontScale="90000"/>
          </a:bodyPr>
          <a:lstStyle/>
          <a:p>
            <a:r>
              <a:rPr lang="en-US" dirty="0"/>
              <a:t>SmartCheck: Database Design &amp; Backend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10400" y="5410200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 GROUP12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429000"/>
            <a:ext cx="6781799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1997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Objective:</a:t>
            </a:r>
            <a:r>
              <a:rPr lang="en-US" dirty="0"/>
              <a:t> To design and implement a robust, scalable, and normalized database for SmartCheck.</a:t>
            </a:r>
          </a:p>
          <a:p>
            <a:r>
              <a:rPr lang="en-US" b="1" dirty="0"/>
              <a:t>Key Stages Covered:</a:t>
            </a:r>
            <a:endParaRPr lang="en-US" dirty="0"/>
          </a:p>
          <a:p>
            <a:pPr lvl="1"/>
            <a:r>
              <a:rPr lang="en-US" dirty="0"/>
              <a:t>Data Element Identification</a:t>
            </a:r>
          </a:p>
          <a:p>
            <a:pPr lvl="1"/>
            <a:r>
              <a:rPr lang="en-US" dirty="0"/>
              <a:t>Conceptual Design (ER Diagram)</a:t>
            </a:r>
          </a:p>
          <a:p>
            <a:pPr lvl="1"/>
            <a:r>
              <a:rPr lang="en-US" dirty="0"/>
              <a:t>Logical Design (Relational Schema)</a:t>
            </a:r>
          </a:p>
          <a:p>
            <a:pPr lvl="1"/>
            <a:r>
              <a:rPr lang="en-US" dirty="0"/>
              <a:t>Database Implementation (SQL DDL)</a:t>
            </a:r>
          </a:p>
          <a:p>
            <a:pPr lvl="1"/>
            <a:r>
              <a:rPr lang="en-US" dirty="0"/>
              <a:t>Backend &amp; Database Connection (Initial Steps)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Task Overview - Database Journey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1" y="2209800"/>
            <a:ext cx="2895600" cy="4494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57402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Process:</a:t>
            </a:r>
            <a:endParaRPr lang="en-US" dirty="0"/>
          </a:p>
          <a:p>
            <a:pPr lvl="1"/>
            <a:r>
              <a:rPr lang="en-US" dirty="0"/>
              <a:t>Analyzed system requirements (SRS, Class Diagram) to list all necessary data points for SmartCheck.</a:t>
            </a:r>
          </a:p>
          <a:p>
            <a:r>
              <a:rPr lang="en-US" b="1" dirty="0"/>
              <a:t>Examples of Data Categories Identified:</a:t>
            </a:r>
            <a:endParaRPr lang="en-US" dirty="0"/>
          </a:p>
          <a:p>
            <a:pPr lvl="1"/>
            <a:r>
              <a:rPr lang="en-US" dirty="0"/>
              <a:t>User Information (Common, Student, Lecturer, Admin)</a:t>
            </a:r>
          </a:p>
          <a:p>
            <a:pPr lvl="1"/>
            <a:r>
              <a:rPr lang="en-US" dirty="0"/>
              <a:t>Course &amp; Session Details</a:t>
            </a:r>
          </a:p>
          <a:p>
            <a:pPr lvl="1"/>
            <a:r>
              <a:rPr lang="en-US" dirty="0"/>
              <a:t>Attendance Records</a:t>
            </a:r>
          </a:p>
          <a:p>
            <a:pPr lvl="1"/>
            <a:r>
              <a:rPr lang="en-US" dirty="0"/>
              <a:t>Facial Recognition Data</a:t>
            </a:r>
          </a:p>
          <a:p>
            <a:pPr lvl="1"/>
            <a:r>
              <a:rPr lang="en-US" dirty="0"/>
              <a:t>Geofencing Parameters</a:t>
            </a:r>
          </a:p>
          <a:p>
            <a:pPr lvl="1"/>
            <a:r>
              <a:rPr lang="en-US" dirty="0"/>
              <a:t>Disputes &amp; Leave Requests</a:t>
            </a:r>
          </a:p>
          <a:p>
            <a:pPr lvl="1"/>
            <a:r>
              <a:rPr lang="en-US" dirty="0"/>
              <a:t>System Logs &amp; Settings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Step 1: Identifying Data Elements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505199"/>
            <a:ext cx="4876800" cy="3276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2673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828800"/>
            <a:ext cx="7848600" cy="4407408"/>
          </a:xfrm>
        </p:spPr>
        <p:txBody>
          <a:bodyPr>
            <a:normAutofit/>
          </a:bodyPr>
          <a:lstStyle/>
          <a:p>
            <a:r>
              <a:rPr lang="en-US" b="1" dirty="0"/>
              <a:t>Purpose of ERD:</a:t>
            </a:r>
            <a:r>
              <a:rPr lang="en-US" dirty="0"/>
              <a:t> To create a high-level model showing our system's main entities and how they relate to each other.</a:t>
            </a:r>
          </a:p>
          <a:p>
            <a:pPr marL="45720" indent="0">
              <a:buNone/>
            </a:pPr>
            <a:endParaRPr lang="en-US" dirty="0"/>
          </a:p>
          <a:p>
            <a:r>
              <a:rPr lang="en-US" b="1" dirty="0"/>
              <a:t>Key Entities Highlighted:</a:t>
            </a:r>
            <a:endParaRPr lang="en-US" dirty="0"/>
          </a:p>
          <a:p>
            <a:pPr lvl="1"/>
            <a:r>
              <a:rPr lang="en-US" dirty="0"/>
              <a:t>User (Student, Lecturer, Admin)</a:t>
            </a:r>
          </a:p>
          <a:p>
            <a:pPr lvl="1"/>
            <a:r>
              <a:rPr lang="en-US" dirty="0"/>
              <a:t>Course, CourseSession, AttendanceRecord</a:t>
            </a:r>
          </a:p>
          <a:p>
            <a:pPr lvl="1"/>
            <a:r>
              <a:rPr lang="en-US" dirty="0"/>
              <a:t>FacialData, GeofenceLocation, Dispute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Step 2: Conceptual Design - The ER Diagram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976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86C2143-9AAC-2FB5-F242-DC70913B3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4308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55" y="1524000"/>
            <a:ext cx="6400801" cy="4834129"/>
          </a:xfrm>
        </p:spPr>
        <p:txBody>
          <a:bodyPr>
            <a:noAutofit/>
          </a:bodyPr>
          <a:lstStyle/>
          <a:p>
            <a:pPr lvl="1"/>
            <a:r>
              <a:rPr lang="en-US" sz="2200" b="1" dirty="0"/>
              <a:t>User Specialization (1:1):</a:t>
            </a:r>
            <a:endParaRPr lang="en-US" sz="2200" dirty="0"/>
          </a:p>
          <a:p>
            <a:pPr lvl="2"/>
            <a:r>
              <a:rPr lang="en-US" sz="2200" dirty="0"/>
              <a:t>User &lt;--&gt; Student</a:t>
            </a:r>
          </a:p>
          <a:p>
            <a:pPr lvl="2"/>
            <a:r>
              <a:rPr lang="en-US" sz="2200" dirty="0"/>
              <a:t>User &lt;--&gt; Lecturer</a:t>
            </a:r>
          </a:p>
          <a:p>
            <a:pPr lvl="2"/>
            <a:r>
              <a:rPr lang="en-US" sz="2200" dirty="0"/>
              <a:t>Each Student/Lecturer IS A User, inheriting common attributes.</a:t>
            </a:r>
            <a:br>
              <a:rPr lang="en-US" sz="2200" dirty="0"/>
            </a:br>
            <a:r>
              <a:rPr lang="en-US" sz="2200" b="1" dirty="0"/>
              <a:t>Course Enrollment (M:N resolved):</a:t>
            </a:r>
            <a:endParaRPr lang="en-US" sz="2200" dirty="0"/>
          </a:p>
          <a:p>
            <a:pPr lvl="2"/>
            <a:r>
              <a:rPr lang="en-US" sz="2200" dirty="0"/>
              <a:t>Student &lt;--- CourseEnrollment ---&gt; Course</a:t>
            </a:r>
          </a:p>
          <a:p>
            <a:pPr lvl="2"/>
            <a:r>
              <a:rPr lang="en-US" sz="2200" dirty="0"/>
              <a:t>Students and Courses have a many-to-many relationship, managed by the CourseEnrollment table.</a:t>
            </a:r>
            <a:br>
              <a:rPr lang="en-US" sz="2200" dirty="0"/>
            </a:br>
            <a:endParaRPr lang="en-US" sz="22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ER Diagram - Core Relationships Example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676400"/>
            <a:ext cx="3443288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0107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Process:</a:t>
            </a:r>
            <a:endParaRPr lang="en-US" dirty="0"/>
          </a:p>
          <a:p>
            <a:pPr lvl="1"/>
            <a:r>
              <a:rPr lang="en-US" dirty="0"/>
              <a:t>Translated the ERD into a detailed relational schema.</a:t>
            </a:r>
          </a:p>
          <a:p>
            <a:pPr lvl="1"/>
            <a:r>
              <a:rPr lang="en-US" dirty="0"/>
              <a:t>Defined tables, columns, data types, and constraints (PK, FK, NOT NULL, UNIQUE).</a:t>
            </a:r>
          </a:p>
          <a:p>
            <a:pPr lvl="1"/>
            <a:r>
              <a:rPr lang="en-US" dirty="0"/>
              <a:t>Focused on normalization (primarily 3NF) to ensure data integrity and reduce redundancy.</a:t>
            </a:r>
          </a:p>
          <a:p>
            <a:r>
              <a:rPr lang="en-US" b="1" dirty="0"/>
              <a:t>Example Table Structure (Show 1-2 key tables):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Step 3: Logical Design - Database Schema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800600"/>
            <a:ext cx="3676650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4191001"/>
            <a:ext cx="4667250" cy="2543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54444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Process:</a:t>
            </a:r>
            <a:endParaRPr lang="en-US" dirty="0"/>
          </a:p>
          <a:p>
            <a:pPr lvl="1"/>
            <a:r>
              <a:rPr lang="en-US" dirty="0"/>
              <a:t>We wrote SQL Data Definition Language (DDL) statements (CREATE TABLE) based on the schema.</a:t>
            </a:r>
          </a:p>
          <a:p>
            <a:pPr lvl="1"/>
            <a:r>
              <a:rPr lang="en-US" dirty="0"/>
              <a:t>Implemented primary keys, foreign keys, data types, and constraints.</a:t>
            </a:r>
          </a:p>
          <a:p>
            <a:pPr lvl="1"/>
            <a:r>
              <a:rPr lang="en-US" dirty="0"/>
              <a:t>We chose Firebase for implementation.</a:t>
            </a:r>
          </a:p>
          <a:p>
            <a:r>
              <a:rPr lang="en-US" b="1" dirty="0"/>
              <a:t>DDL Snippet (Illustrative):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Step 4: Database Implementation - SQL DDL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191000"/>
            <a:ext cx="403860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9343" y="3733800"/>
            <a:ext cx="4490357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521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999" y="1719070"/>
            <a:ext cx="6096001" cy="4605529"/>
          </a:xfrm>
        </p:spPr>
        <p:txBody>
          <a:bodyPr>
            <a:normAutofit/>
          </a:bodyPr>
          <a:lstStyle/>
          <a:p>
            <a:r>
              <a:rPr lang="en-US" b="1" dirty="0"/>
              <a:t>Purpose:</a:t>
            </a:r>
            <a:r>
              <a:rPr lang="en-US" dirty="0"/>
              <a:t> This crucial table stores every attendance instance, linking students, sessions, and verification data.</a:t>
            </a:r>
          </a:p>
          <a:p>
            <a:r>
              <a:rPr lang="en-US" b="1" dirty="0"/>
              <a:t>Key Columns &amp; FKs:</a:t>
            </a:r>
            <a:endParaRPr lang="en-US" dirty="0"/>
          </a:p>
          <a:p>
            <a:pPr lvl="1"/>
            <a:r>
              <a:rPr lang="en-US" dirty="0"/>
              <a:t>attendanceID (PK)</a:t>
            </a:r>
          </a:p>
          <a:p>
            <a:pPr lvl="1"/>
            <a:r>
              <a:rPr lang="en-US" dirty="0"/>
              <a:t>studentID (FK to Students)</a:t>
            </a:r>
          </a:p>
          <a:p>
            <a:pPr lvl="1"/>
            <a:r>
              <a:rPr lang="en-US" dirty="0"/>
              <a:t>sessionID (FK to CourseSessions)</a:t>
            </a:r>
          </a:p>
          <a:p>
            <a:pPr lvl="1"/>
            <a:r>
              <a:rPr lang="en-US" dirty="0"/>
              <a:t>courseID (FK to Courses)</a:t>
            </a:r>
          </a:p>
          <a:p>
            <a:pPr lvl="1"/>
            <a:r>
              <a:rPr lang="en-US" dirty="0"/>
              <a:t>checkInTime, attendanceStatus, verificationMethod</a:t>
            </a:r>
          </a:p>
          <a:p>
            <a:pPr lvl="1"/>
            <a:r>
              <a:rPr lang="en-US" dirty="0"/>
              <a:t>locationLatitude, locationLongitude, faceMatchScore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Key Table Example: AttendanceRecords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2286000"/>
            <a:ext cx="2809875" cy="200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6977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1676400"/>
            <a:ext cx="6172201" cy="4834129"/>
          </a:xfrm>
        </p:spPr>
        <p:txBody>
          <a:bodyPr>
            <a:normAutofit/>
          </a:bodyPr>
          <a:lstStyle/>
          <a:p>
            <a:r>
              <a:rPr lang="en-US" b="1" dirty="0"/>
              <a:t>Backend Implementation (Overview):</a:t>
            </a:r>
            <a:endParaRPr lang="en-US" dirty="0"/>
          </a:p>
          <a:p>
            <a:pPr lvl="1"/>
            <a:r>
              <a:rPr lang="en-US" dirty="0"/>
              <a:t>Started backend development using Node.js/Express.</a:t>
            </a:r>
          </a:p>
          <a:p>
            <a:pPr lvl="1"/>
            <a:r>
              <a:rPr lang="en-US" dirty="0"/>
              <a:t>Defining API endpoints for core functionalities (e.g., user auth, course data).</a:t>
            </a:r>
          </a:p>
          <a:p>
            <a:pPr lvl="1"/>
            <a:r>
              <a:rPr lang="en-US" dirty="0"/>
              <a:t>Business logic will interact with the database via these APIs.</a:t>
            </a:r>
          </a:p>
          <a:p>
            <a:r>
              <a:rPr lang="en-US" b="1" dirty="0"/>
              <a:t>Database Connection:</a:t>
            </a:r>
            <a:endParaRPr lang="en-US" dirty="0"/>
          </a:p>
          <a:p>
            <a:pPr lvl="1"/>
            <a:r>
              <a:rPr lang="en-US" dirty="0"/>
              <a:t>Established initial connection between the backend application and the SmartCheck database.</a:t>
            </a:r>
          </a:p>
          <a:p>
            <a:pPr lvl="1"/>
            <a:r>
              <a:rPr lang="en-US" dirty="0"/>
              <a:t>Using [ORM/Driver, e.g., Sequelize, SQLAlchemy, JDBC/ODBC driver] for database interaction.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Step 5 &amp; 6: Backend &amp; Database Connection (Initial Stages)</a:t>
            </a:r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4126" y="2150364"/>
            <a:ext cx="28194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9607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1" y="1676400"/>
            <a:ext cx="6324600" cy="4910329"/>
          </a:xfrm>
        </p:spPr>
        <p:txBody>
          <a:bodyPr>
            <a:normAutofit/>
          </a:bodyPr>
          <a:lstStyle/>
          <a:p>
            <a:r>
              <a:rPr lang="en-US" b="1" dirty="0"/>
              <a:t>Normalization:</a:t>
            </a:r>
            <a:endParaRPr lang="en-US" dirty="0"/>
          </a:p>
          <a:p>
            <a:pPr lvl="1"/>
            <a:r>
              <a:rPr lang="en-US" dirty="0"/>
              <a:t>Schema designed to </a:t>
            </a:r>
            <a:r>
              <a:rPr lang="en-US" b="1" dirty="0"/>
              <a:t>3rd Normal Form (3NF)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Benefits:</a:t>
            </a:r>
            <a:r>
              <a:rPr lang="en-US" dirty="0"/>
              <a:t> Reduced data redundancy, minimized update anomalies, improved data consistency.</a:t>
            </a:r>
          </a:p>
          <a:p>
            <a:r>
              <a:rPr lang="en-US" b="1" dirty="0"/>
              <a:t>Data Integrity Mechanisms:</a:t>
            </a:r>
            <a:endParaRPr lang="en-US" dirty="0"/>
          </a:p>
          <a:p>
            <a:pPr lvl="1"/>
            <a:r>
              <a:rPr lang="en-US" b="1" dirty="0"/>
              <a:t>Primary Keys:</a:t>
            </a:r>
            <a:r>
              <a:rPr lang="en-US" dirty="0"/>
              <a:t> Ensure unique record identification.</a:t>
            </a:r>
          </a:p>
          <a:p>
            <a:pPr lvl="1"/>
            <a:r>
              <a:rPr lang="en-US" b="1" dirty="0"/>
              <a:t>Foreign Keys:</a:t>
            </a:r>
            <a:r>
              <a:rPr lang="en-US" dirty="0"/>
              <a:t> Maintain referential integrity between tables.</a:t>
            </a:r>
          </a:p>
          <a:p>
            <a:pPr lvl="1"/>
            <a:r>
              <a:rPr lang="en-US" b="1" dirty="0"/>
              <a:t>NOT NULL, UNIQUE, CHECK Constraints:</a:t>
            </a:r>
            <a:r>
              <a:rPr lang="en-US" dirty="0"/>
              <a:t> Enforce data rules at the database level.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Normalization &amp; Data Integrity</a:t>
            </a:r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022" y="2362200"/>
            <a:ext cx="2514600" cy="3808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9784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1676400"/>
            <a:ext cx="4768516" cy="4407408"/>
          </a:xfrm>
        </p:spPr>
        <p:txBody>
          <a:bodyPr>
            <a:normAutofit/>
          </a:bodyPr>
          <a:lstStyle/>
          <a:p>
            <a:r>
              <a:rPr lang="en-US" b="1" dirty="0"/>
              <a:t>Completed for Task 6:</a:t>
            </a:r>
            <a:endParaRPr lang="en-US" dirty="0"/>
          </a:p>
          <a:p>
            <a:pPr lvl="1"/>
            <a:r>
              <a:rPr lang="en-US" dirty="0"/>
              <a:t>Comprehensive Data Element Identification.</a:t>
            </a:r>
          </a:p>
          <a:p>
            <a:pPr lvl="1"/>
            <a:r>
              <a:rPr lang="en-US" dirty="0"/>
              <a:t>Conceptual Design (ER Diagram).</a:t>
            </a:r>
          </a:p>
          <a:p>
            <a:r>
              <a:rPr lang="en-US" b="1" dirty="0"/>
              <a:t>Next Steps:</a:t>
            </a:r>
            <a:endParaRPr lang="en-US" dirty="0"/>
          </a:p>
          <a:p>
            <a:pPr lvl="1"/>
            <a:r>
              <a:rPr lang="en-US" dirty="0"/>
              <a:t>Refine indexes based on query performance testing.</a:t>
            </a:r>
          </a:p>
          <a:p>
            <a:pPr lvl="1"/>
            <a:r>
              <a:rPr lang="en-US" dirty="0"/>
              <a:t>Develop stored procedures/triggers if needed for complex logic/auditing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Current Status &amp; Next Steps</a:t>
            </a:r>
            <a:endParaRPr 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516" y="2158967"/>
            <a:ext cx="4146513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04714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2644170"/>
            <a:ext cx="762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accent1">
                    <a:lumMod val="75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611992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Grid">
  <a:themeElements>
    <a:clrScheme name="Grid">
      <a:dk1>
        <a:sysClr val="windowText" lastClr="000000"/>
      </a:dk1>
      <a:lt1>
        <a:sysClr val="window" lastClr="FFFFFF"/>
      </a:lt1>
      <a:dk2>
        <a:srgbClr val="534949"/>
      </a:dk2>
      <a:lt2>
        <a:srgbClr val="CCD1B9"/>
      </a:lt2>
      <a:accent1>
        <a:srgbClr val="C66951"/>
      </a:accent1>
      <a:accent2>
        <a:srgbClr val="BF974D"/>
      </a:accent2>
      <a:accent3>
        <a:srgbClr val="928B70"/>
      </a:accent3>
      <a:accent4>
        <a:srgbClr val="87706B"/>
      </a:accent4>
      <a:accent5>
        <a:srgbClr val="94734E"/>
      </a:accent5>
      <a:accent6>
        <a:srgbClr val="6F777D"/>
      </a:accent6>
      <a:hlink>
        <a:srgbClr val="CC9900"/>
      </a:hlink>
      <a:folHlink>
        <a:srgbClr val="C0C0C0"/>
      </a:folHlink>
    </a:clrScheme>
    <a:fontScheme name="Grid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inorFont>
    </a:fontScheme>
    <a:fmtScheme name="Grid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175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3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3000"/>
                <a:satMod val="11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Grid</Template>
  <TotalTime>1119</TotalTime>
  <Words>631</Words>
  <Application>Microsoft Office PowerPoint</Application>
  <PresentationFormat>On-screen Show (4:3)</PresentationFormat>
  <Paragraphs>81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Franklin Gothic Medium</vt:lpstr>
      <vt:lpstr>Wingdings</vt:lpstr>
      <vt:lpstr>Wingdings 2</vt:lpstr>
      <vt:lpstr>Grid</vt:lpstr>
      <vt:lpstr>SmartCheck: Database Design &amp; Backend Implementation</vt:lpstr>
      <vt:lpstr>Task Overview - Database Journey</vt:lpstr>
      <vt:lpstr>Step 1: Identifying Data Elements</vt:lpstr>
      <vt:lpstr>Step 2: Conceptual Design - The ER Diagram</vt:lpstr>
      <vt:lpstr>PowerPoint Presentation</vt:lpstr>
      <vt:lpstr>ER Diagram - Core Relationships Example</vt:lpstr>
      <vt:lpstr>Step 3: Logical Design - Database Schema</vt:lpstr>
      <vt:lpstr>Step 4: Database Implementation - SQL DDL</vt:lpstr>
      <vt:lpstr>Key Table Example: AttendanceRecords</vt:lpstr>
      <vt:lpstr>Step 5 &amp; 6: Backend &amp; Database Connection (Initial Stages)</vt:lpstr>
      <vt:lpstr>Normalization &amp; Data Integrity</vt:lpstr>
      <vt:lpstr>Current Status &amp; Next Steps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MY PC</dc:creator>
  <cp:lastModifiedBy>INTER-TECH</cp:lastModifiedBy>
  <cp:revision>14</cp:revision>
  <dcterms:created xsi:type="dcterms:W3CDTF">2025-06-08T19:11:10Z</dcterms:created>
  <dcterms:modified xsi:type="dcterms:W3CDTF">2025-06-10T10:45:51Z</dcterms:modified>
</cp:coreProperties>
</file>