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66" r:id="rId5"/>
    <p:sldId id="271" r:id="rId6"/>
    <p:sldId id="256" r:id="rId7"/>
    <p:sldId id="257" r:id="rId8"/>
    <p:sldId id="278" r:id="rId9"/>
    <p:sldId id="276" r:id="rId10"/>
    <p:sldId id="265" r:id="rId11"/>
    <p:sldId id="258" r:id="rId12"/>
    <p:sldId id="259" r:id="rId13"/>
    <p:sldId id="260" r:id="rId14"/>
    <p:sldId id="262" r:id="rId15"/>
  </p:sldIdLst>
  <p:sldSz cx="12192000" cy="6858000"/>
  <p:notesSz cx="6858000" cy="9144000"/>
  <p:embeddedFontLst>
    <p:embeddedFont>
      <p:font typeface="Bierstadt" panose="020B0004020202020204" pitchFamily="34" charset="0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Posterama" panose="020B0504020200020000" pitchFamily="34" charset="0"/>
      <p:regular r:id="rId24"/>
      <p:bold r:id="rId25"/>
    </p:embeddedFont>
    <p:embeddedFont>
      <p:font typeface="Posterama Bold" panose="020B0804020200020000" pitchFamily="34" charset="0"/>
      <p:bold r:id="rId26"/>
    </p:embeddedFont>
    <p:embeddedFont>
      <p:font typeface="Verdana" panose="020B0604030504040204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D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41" autoAdjust="0"/>
  </p:normalViewPr>
  <p:slideViewPr>
    <p:cSldViewPr snapToGrid="0">
      <p:cViewPr varScale="1">
        <p:scale>
          <a:sx n="57" d="100"/>
          <a:sy n="57" d="100"/>
        </p:scale>
        <p:origin x="72" y="378"/>
      </p:cViewPr>
      <p:guideLst/>
    </p:cSldViewPr>
  </p:slideViewPr>
  <p:outlineViewPr>
    <p:cViewPr>
      <p:scale>
        <a:sx n="33" d="100"/>
        <a:sy n="33" d="100"/>
      </p:scale>
      <p:origin x="0" y="-21773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1A5C42-4636-4A6A-9001-CA7CD97B0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57720-6EA2-4C0E-AB19-0A22BCDB83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7D70DC-E6D5-4048-8AC5-67F4E92F0736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AC616-D2D2-4742-9683-2A537932A1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EE012-E187-4EEE-9C2F-2125BF4086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1155F-8354-4019-9356-1A95703B07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605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6C02F-3406-42DD-8956-B66C2D710E25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1D96E-4CA2-485E-9EE5-CEB7143ACC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18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7FFE5B-C2CA-473D-8FCA-B26579CCBA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FF4BA3E-4135-4F80-B1C8-C84CDF7C54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52100" y="739303"/>
            <a:ext cx="6825035" cy="53793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AABB7-A562-4A3F-9DDF-2CE3D1372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2977" y="1663435"/>
            <a:ext cx="5869021" cy="2003898"/>
          </a:xfrm>
          <a:solidFill>
            <a:schemeClr val="accent2">
              <a:alpha val="80000"/>
            </a:schemeClr>
          </a:solidFill>
        </p:spPr>
        <p:txBody>
          <a:bodyPr lIns="557784" tIns="530352" anchor="t">
            <a:noAutofit/>
          </a:bodyPr>
          <a:lstStyle>
            <a:lvl1pPr algn="l">
              <a:lnSpc>
                <a:spcPct val="80000"/>
              </a:lnSpc>
              <a:defRPr sz="5400" cap="all" spc="400" baseline="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15807FE-36E0-49EF-93A4-5B9AD83871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159" y="2878246"/>
            <a:ext cx="4925188" cy="339247"/>
          </a:xfrm>
        </p:spPr>
        <p:txBody>
          <a:bodyPr>
            <a:noAutofit/>
          </a:bodyPr>
          <a:lstStyle>
            <a:lvl1pPr marL="0" indent="0" algn="l">
              <a:buNone/>
              <a:defRPr sz="2400" spc="1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352351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9B8705-C027-4E12-892E-C32FF13296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D685DB5-FA77-4C19-88B8-5A8D733B42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5012530" y="0"/>
            <a:ext cx="7196138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6919B-FFF8-4FED-8A44-48A7E600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28B0-8A34-4E86-9FE3-20BD880C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E1CCB-96B6-4D9F-A932-D0EBDBD7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7CB735-9F66-41A8-8F1D-4B66FE1D1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" y="1672143"/>
            <a:ext cx="6019802" cy="3513714"/>
          </a:xfrm>
          <a:solidFill>
            <a:schemeClr val="accent6">
              <a:alpha val="80000"/>
            </a:schemeClr>
          </a:solidFill>
        </p:spPr>
        <p:txBody>
          <a:bodyPr lIns="676656" tIns="795528"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A51F916-D1A0-40B2-A894-1C597A7AAF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4575" y="3007594"/>
            <a:ext cx="4850550" cy="1731145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3619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5BA1F-6B83-4358-A202-FD1547097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C10F8-CB40-4BDD-AA21-7DDC300F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969F5-F9D0-4A38-8C6C-86005388F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33B3F-10CE-4363-805C-361CA494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EABAB15-C887-420D-92A1-24DBD62EE5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729926"/>
            <a:ext cx="3581400" cy="53887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7E8EA93-3F05-4D28-8B15-91D6789458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46476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4EBCE5D-8795-44C7-8196-051689C6FE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6476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95044F5-86E3-4A1C-B3C8-6E3422E5B4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65518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C9BA1BF-0690-4DB5-9BBC-31D1948D82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6476" y="4443157"/>
            <a:ext cx="2289974" cy="1463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D187952-9422-42DE-B163-B764E0D099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65519" y="4451209"/>
            <a:ext cx="2289972" cy="14571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4291470-2EE9-46D8-8083-E4523DCE5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65517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17B8E7E2-50C1-429D-A8C5-C098CDADCF3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46476" y="4118846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9DB38C9-BBE5-4212-87C2-D9B34A4707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518" y="4118846"/>
            <a:ext cx="2289972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A61E342-2B6C-4379-A3B3-8D1B338F65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7910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F39B769-D212-4C11-B6CB-0423DD1059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7910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7FF8E-011E-46E6-9F4D-DAD483095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5516" y="1185284"/>
            <a:ext cx="7288284" cy="46949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57735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81AFB-2572-4954-B05E-84CDE1D883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50850-5ECD-4AA5-8EF0-70C6EA29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B04CF-8972-48CE-B427-B542AF91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64ACC-F262-4128-BC17-FCB29BEF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17CFF16-7992-46DD-8151-F55B030057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06711" y="1335193"/>
            <a:ext cx="285909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EBADC1C2-D36B-4AFE-8824-DE6D0FB513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06711" y="1639822"/>
            <a:ext cx="2859090" cy="1475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F1632658-DE5C-4EA2-83DE-AB456D9D76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67309" y="1639822"/>
            <a:ext cx="2859091" cy="15177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6A6D61C-C33C-46D5-B2C5-6C6A7C143A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06711" y="3837269"/>
            <a:ext cx="2859090" cy="15333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A4E6A96-585A-4265-900D-17D98121F5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7310" y="3845321"/>
            <a:ext cx="2859089" cy="15269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28B8437C-1550-4581-911A-98BEA151A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67308" y="1335193"/>
            <a:ext cx="2859091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04DF1AD6-E51A-4D19-A9C8-CCAFE9E9B2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6711" y="3532639"/>
            <a:ext cx="285909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3656830-2B4C-4F48-8EBD-F8C80C353F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7309" y="3532639"/>
            <a:ext cx="285908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D6999-ED11-424C-91FD-1ECD0CB9D2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4299" y="2768600"/>
            <a:ext cx="2956810" cy="1129164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49148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0CE26C-A8CF-4DC0-9913-86FF0ED876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DD4FC6-591F-4220-A331-724C4FE4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06146-DCCA-4419-9FC3-7F33AEABA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EDAF2-5575-4164-9610-7906C203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0C598512-93DF-4C00-A3BC-4CFF184217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0484" y="3639417"/>
            <a:ext cx="2383764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AFC7B8A-881F-4E97-91D4-F41DFA6D8F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484" y="3965866"/>
            <a:ext cx="2383764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7B10018-89A9-49C8-8DCE-621EF9328C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8982" y="3969554"/>
            <a:ext cx="2383764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42C0572-2FB8-4C18-AD74-75A1653213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7478" y="3953422"/>
            <a:ext cx="2383765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495EE04-F172-4AD4-8FE7-4A03B1CE4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88445" y="3953422"/>
            <a:ext cx="2383765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F23ABA12-4A7C-42A2-9A8E-9E7F1A2BB2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19503" y="3639417"/>
            <a:ext cx="2502719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E11CB21-11BD-400A-BC43-71A9AFA928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37478" y="3639417"/>
            <a:ext cx="2383765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02DE0CA8-2A1F-49D8-B9B6-BF353B9808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88445" y="3639417"/>
            <a:ext cx="2383765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5D3DD0-ED40-47C1-B841-046E1D918B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7" y="1581912"/>
            <a:ext cx="7286605" cy="634323"/>
          </a:xfrm>
        </p:spPr>
        <p:txBody>
          <a:bodyPr>
            <a:norm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3C97099-E767-429A-80C6-731FB9D295F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510614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E2E22B87-E0E3-4234-B4FA-C9FC97DEDCB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69110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EF1B794-5E10-4558-B229-0D8F5895CCA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27608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ECB6791-2C34-417D-9AB9-03C9A8BBDF9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0078575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19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C8E50C-1C7A-4E62-B38F-3E12A174C8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7AF7405C-6DF9-4409-85F0-8C1DCCC0AC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2570" y="729926"/>
            <a:ext cx="6456836" cy="53887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83B71-4A78-4B93-97F2-F54D7DC100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7704" y="1881922"/>
            <a:ext cx="5749200" cy="3084630"/>
          </a:xfrm>
          <a:solidFill>
            <a:schemeClr val="bg2">
              <a:alpha val="93000"/>
            </a:schemeClr>
          </a:solidFill>
        </p:spPr>
        <p:txBody>
          <a:bodyPr lIns="694944" tIns="713232" anchor="t">
            <a:norm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83F286D7-A050-456B-BDD3-3FFAA21A80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9405" y="3201410"/>
            <a:ext cx="4614604" cy="1291638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927E28-2C60-4D18-8BB3-DC9627E1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0EE45-541D-483E-A0B8-5997A2F98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E100B-E96A-45D4-9553-51CF2CBA5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124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E757B982-FF4B-4902-B808-FC325983FD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7337BF-9564-499D-91CE-9DDD9C9693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3350" y="1371599"/>
            <a:ext cx="9385300" cy="985791"/>
          </a:xfrm>
        </p:spPr>
        <p:txBody>
          <a:bodyPr>
            <a:noAutofit/>
          </a:bodyPr>
          <a:lstStyle>
            <a:lvl1pPr algn="ctr">
              <a:defRPr sz="54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7900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684757-E21D-414B-B627-1E0D15F89C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27250C7-CB58-468C-B8BB-17DB85D4F2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1738" y="0"/>
            <a:ext cx="7196930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BB3F6-84AB-40BA-9D7D-7C1E13C0E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1036629"/>
            <a:ext cx="6007099" cy="4784742"/>
          </a:xfrm>
          <a:solidFill>
            <a:schemeClr val="accent6">
              <a:alpha val="80000"/>
            </a:schemeClr>
          </a:solidFill>
        </p:spPr>
        <p:txBody>
          <a:bodyPr lIns="822960" tIns="640080" anchor="t">
            <a:norm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A7AB969-4D8E-41B0-A403-6D1D41CD51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016" y="2368506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8F82904-47D8-4EB9-A697-8ED11274C4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9017" y="2605040"/>
            <a:ext cx="4771030" cy="801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4501739-C457-4C98-A458-5B3639CFB8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9016" y="3544629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03766A8-C36E-4337-9DB4-358A28B743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9017" y="3781163"/>
            <a:ext cx="4771030" cy="801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F947925-2465-45AC-9A1E-7153477BBE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016" y="4739239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6FC86B0E-A85D-444A-BC2A-B7A5FF1D48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9017" y="4975773"/>
            <a:ext cx="4771030" cy="5468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930A0-A89C-48EB-A039-375BDA735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A2494-B27D-418F-9D5E-8DE4FFB4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0DC46-AFFB-4CCA-B5AE-7028C4E26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967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27D588-C832-4149-9B9F-D817459D8B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0CE2C-509A-4C33-AB34-6F278F11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06B8C-060C-4139-B354-239A56BB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BE7C0-2680-40FD-88E4-27D6E777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1941F94-25C7-46EC-89FE-B12B54F77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075" y="4076963"/>
            <a:ext cx="3035881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DE2747E-A71B-4917-8960-56D4F927D8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1068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B3830FC7-44D5-48CD-AA84-4E262F2EB8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9632" y="4076963"/>
            <a:ext cx="3035880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1F423C9-E1B4-4BD9-98A5-9397C32447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63187" y="4076963"/>
            <a:ext cx="3023761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DF3CDE-1C08-4B0C-8DC3-9FCBBD3E61D4}"/>
              </a:ext>
            </a:extLst>
          </p:cNvPr>
          <p:cNvCxnSpPr>
            <a:cxnSpLocks/>
          </p:cNvCxnSpPr>
          <p:nvPr userDrawn="1"/>
        </p:nvCxnSpPr>
        <p:spPr>
          <a:xfrm>
            <a:off x="832513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C026C956-C6C4-4010-889F-B8D7620364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73324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4D363AD-B16F-46C4-9856-EA9EAC699E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40173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E9BAEE-70B0-4F15-B6B7-D5AE0227618F}"/>
              </a:ext>
            </a:extLst>
          </p:cNvPr>
          <p:cNvCxnSpPr>
            <a:cxnSpLocks/>
          </p:cNvCxnSpPr>
          <p:nvPr userDrawn="1"/>
        </p:nvCxnSpPr>
        <p:spPr>
          <a:xfrm>
            <a:off x="4699359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0848BB-EF65-4D43-AC18-9C4F4749CA6D}"/>
              </a:ext>
            </a:extLst>
          </p:cNvPr>
          <p:cNvCxnSpPr>
            <a:cxnSpLocks/>
          </p:cNvCxnSpPr>
          <p:nvPr userDrawn="1"/>
        </p:nvCxnSpPr>
        <p:spPr>
          <a:xfrm>
            <a:off x="8566207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7CA7F01-3F2D-4396-A7D4-3D21C56D7F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016" y="1643321"/>
            <a:ext cx="4856634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9204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D8EB4-0AAB-4C86-96ED-AB74FA56A6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5DEE423F-FC4A-461D-8AA7-F7C14B8066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334461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30EC-51F8-4EBE-9AC8-349D6E06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9EF7FC71-AF21-4CDA-8E86-E05EB4F1C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3468" y="3260492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$2B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21B81-6A13-47D5-AD62-B1B0E486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BB476-8DFF-468F-B950-1F980EB4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BF893A53-04CF-497B-9C3D-502C92BA0D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3467" y="4773463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$1B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BD5CDD-220E-41E0-82DD-820C0D834A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17970" y="1609772"/>
            <a:ext cx="3365003" cy="117153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3384AB-173D-4216-A221-BFA565FC12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7375" y="1747520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$3B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5638026-D669-4C2A-82A4-5F35D27DCA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17970" y="3129515"/>
            <a:ext cx="3365003" cy="117043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A19EAA97-D0F2-464B-8450-83BF202CEC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17970" y="4648156"/>
            <a:ext cx="3365003" cy="117043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F2174-FDCE-466A-8A4C-06AD6CAA4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016" y="746631"/>
            <a:ext cx="5184648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7232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9216DCA9-E871-422D-B12D-3E1C39ACD2E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 rot="5400000" flipH="1">
            <a:off x="-2092961" y="2092960"/>
            <a:ext cx="6858002" cy="2672081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54628-3BB3-414A-88E4-67B3809A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99CEA-3489-476A-9C9D-ED977FE6E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D55B0-9BDF-49CC-B30F-96112214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9CF3D99-4BB8-4944-A82E-385209DF3D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11826" y="2881982"/>
            <a:ext cx="3975054" cy="29667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83CED13-2FB7-4DA4-87BD-B5AEF0C631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1826" y="2502477"/>
            <a:ext cx="3975054" cy="4263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40762F-003B-4B0E-A561-6734EA9AC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78746" y="2881982"/>
            <a:ext cx="3695653" cy="29667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87E9583-831E-4863-9A96-3E583A98F2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78746" y="2502477"/>
            <a:ext cx="3695653" cy="4263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F4071-8FD4-4FF1-BA06-DD4D780FE4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6032" y="1649421"/>
            <a:ext cx="5184648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6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51320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54AA95-575B-4060-9443-53B347664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BF2BB6-8F62-424E-B01D-F90A0DB7B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2AF5C-69BC-4A87-8E5C-E473F6A7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AD827-24BF-4C7D-9F16-1E26E09A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EEF33-0303-4BF6-8C9A-08DE4CB6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C14BDE6-5903-4EFC-B3C7-B7B219402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7839" y="1538273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19954FA-533A-4FF9-88B2-102C833FBD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37839" y="5407116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E29BB699-DB47-4A35-9B5B-63C7EFC228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651" y="3467155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EFD147E-AEE9-40FA-96D5-7DBE760334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44687" y="230774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35518AB-0629-41B1-8670-DAE8C31C99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81179" y="44204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D84B55A2-EE63-46F3-80EA-C4F512388C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43702" y="455219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DED8D5C-7B18-4E79-B6B4-E59FAC3A83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0052" y="4120885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B6D903-1EAA-44AD-A3D8-6256873B7A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5032" y="3467155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14974F-EEEB-4FDB-B605-14B6199844BA}"/>
              </a:ext>
            </a:extLst>
          </p:cNvPr>
          <p:cNvCxnSpPr>
            <a:cxnSpLocks/>
          </p:cNvCxnSpPr>
          <p:nvPr userDrawn="1"/>
        </p:nvCxnSpPr>
        <p:spPr>
          <a:xfrm>
            <a:off x="3758002" y="3713168"/>
            <a:ext cx="4683649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CFFB4C-5408-479D-88E2-42F8897706C7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1322" y="2030298"/>
            <a:ext cx="4678" cy="337681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9D316786-C25C-4139-9C9E-B55FEA3C4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54219" y="2067508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DC43FD24-D855-40FC-85C4-87ED3F64AA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60695" y="4820889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7A013-A59B-4367-9832-ED55A6D252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508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85885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1F00DA-5D59-4EDE-BA9C-D312B3FBBA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3578F-2A0F-4E30-AF4A-8F796929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F6CA51-E5DC-4FC3-92F6-D5EC783C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0E530-F1C5-4166-A95F-3F8D022C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91453D1-9488-4F30-8223-1CB500BDC2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882AD8A-D4BD-4E12-8458-AC021F93B1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73698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3DF3AAFC-DA9A-4A72-BBF9-5A097BC5950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02976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FF48EEE-6AEC-4E37-AD5C-EEB74BA0CE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46652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2066EA2-51F1-4F13-8E1B-89600E8790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1695" y="4042386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14EBD1B-595C-4A54-92C8-3C5427E15C4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20973" y="4042387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64F77B9-03A9-4E3E-B656-D3C0FBE25AB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64649" y="4042386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ECFB3-5650-476F-BB54-8A2A45F8AE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21985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91600-3E99-42F4-85C2-60F442CD5E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30B4BBA3-2E4B-4AF2-8A2B-92DD019631E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266428" y="2782888"/>
            <a:ext cx="4992567" cy="34369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460CAC-F6F8-43F8-93F5-188B790DEE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8D310-58F4-4A10-A286-9B42AECF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68E10-EEA7-4017-B7CA-17B5EB23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014CA-8BED-467C-AC80-6DC5B3DD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2C4E099A-EEE4-40B4-B9B5-32A5A981F95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5410" y="2333977"/>
            <a:ext cx="5007023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6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51338F1A-6EF2-4AA5-9EE8-628C9D57C2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9569" y="2339781"/>
            <a:ext cx="4993148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6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F744EAD-73E9-49F3-9CA4-9A344EB62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B4710E-545B-4940-B69A-359188335AD3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19283" y="2782888"/>
            <a:ext cx="4992567" cy="34369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0270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533791-52F7-40F6-B230-7BF6C505CC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8A0C5-BEED-4BC5-ACD5-3F28EDE1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EA781-4C22-4390-A03C-CA5DCCB7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694A4-07AC-48C4-A560-162C1F4E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A6B27A0-0449-46AE-A770-EBB281A1A9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E70DE9B-2CDE-44B6-9307-FC12D873CA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23B5183-98F9-43BF-BE37-2AE0A049EA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9DAB7F1-F6E7-4F92-B252-D9B81196A3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037F0E4-C57B-4033-B973-C69A03D970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17017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5DAD742-736F-42D3-99FC-6046CF57A7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53EC6732-F61D-431C-88C9-BAA5039B6B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8218F9A-C149-4D30-8437-B9D8C0DAF1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BCA166BB-F293-4289-B0EB-57580EC9608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7397369-CCB5-450E-8FD1-46B3B54F6B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78252082-BCF2-4955-B695-35F48EF76FD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F998D11-3FAA-4712-8C34-404C1BDCEC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2AA33C54-3898-452E-979F-F1B5853E73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569AA0A-65D1-4456-9A14-327E6CE6DF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28EB91C-9303-4EB3-886A-E5DA884A80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A47908B-3F69-4786-9C40-C12392133F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378EEBEC-FDBD-4D14-ADCA-4C72B269E99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044989A5-8040-43C0-BE05-6A79C3BE63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2581A3A-F479-4780-81BE-CCBCF3981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3D361DBA-153A-4846-BDA4-CC63FF9474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78FB324E-EE00-4CC5-9F81-5EF71F30503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8AA454F-F92D-4844-92A6-A3FEDD88B30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651BCA7B-5BF4-4A0F-95C1-2014315E80B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7E3F41F1-0E06-45ED-894F-7F38510C27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C02572F8-1812-49D5-B24A-088659DE9F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772" y="2763180"/>
            <a:ext cx="1021001" cy="5017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453EA1A1-A67D-4132-9EA0-584E8FA796C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3772" y="4449967"/>
            <a:ext cx="1021001" cy="5017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658BFCC4-C261-4874-8195-FDA3C5001E0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158708C7-ABA0-43E5-BB89-A1B7B2C4523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2AE59213-95B1-4597-AD8C-D55D96D561E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2B9A460E-592F-41EA-9F9C-8953AFAC223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065B3A8-F99B-47E6-B517-D93AC0FC450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B2187073-BC0A-4137-A204-D35C44CD7F8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35F35AF6-FBA2-4CA2-8A1F-2C977E6C9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58216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C89BE0-E34D-48FA-8ED2-CA69BFBC4F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AB20A778-FBFD-4ED2-8E9B-6645F59A4D1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79732" y="0"/>
            <a:ext cx="5012268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B12CF59-4802-4969-8645-8E2014DF0A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9732" y="0"/>
            <a:ext cx="5012267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CB959-A5D6-4887-9B77-916F0EA1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C0AFFF-66EA-44D7-828D-244A190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89006-A738-42A2-B328-34F70A77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73E75D8-7274-49D2-8CF2-0E990C29C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91683-9C5C-45D2-A241-FC48B66B50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3750" y="1238250"/>
            <a:ext cx="5422392" cy="45902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4096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9293AB-35CB-4344-A710-9C0BF396AE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B5434-FC37-4DD2-AA81-6499AA6F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C474A-5DF9-4EA3-A273-CA394106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B1742-3B51-4EFC-8A04-CD872DE4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5C06A4-0C2D-4746-83C3-410A9B469E89}"/>
              </a:ext>
            </a:extLst>
          </p:cNvPr>
          <p:cNvSpPr/>
          <p:nvPr userDrawn="1"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890CF5DC-D21B-4DF3-8248-1F809124AD9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3737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EE26967-C0C7-4310-90FC-F1914D2403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8239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CA187B6-5AE8-4D11-8E79-63677F474D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8239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72BAC04-D935-470E-B6B5-E9CCE70D11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75961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456256DC-B113-4559-8D0B-3F8B4A7CAB2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548185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60A063A-DD07-4E82-9217-A8AD06D7C94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0409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194B9ED-C9B7-4850-B875-B179F9A6AD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60463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DBB00C57-7DE2-436D-8748-527515EE4A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60463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6503F18-AEB2-4183-8F37-6BE4BBD66E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2687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01AC31E-901A-4C34-A8AE-71C303E07F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2687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113CB6D-E397-418B-8738-D96E553ADD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04911" y="4570546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63EA5C1A-BB92-4C5E-BB99-A85B0B0FC4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04911" y="4886780"/>
            <a:ext cx="2118415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93D6C-0CD6-42A7-A2D2-C8582F7B353C}"/>
              </a:ext>
            </a:extLst>
          </p:cNvPr>
          <p:cNvSpPr/>
          <p:nvPr userDrawn="1"/>
        </p:nvSpPr>
        <p:spPr>
          <a:xfrm>
            <a:off x="1686323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D0FDBA-5294-4730-92D6-440AA8DE35AE}"/>
              </a:ext>
            </a:extLst>
          </p:cNvPr>
          <p:cNvSpPr/>
          <p:nvPr userDrawn="1"/>
        </p:nvSpPr>
        <p:spPr>
          <a:xfrm>
            <a:off x="4058547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E75564-AD04-4406-979E-AC0A8BE2AEFD}"/>
              </a:ext>
            </a:extLst>
          </p:cNvPr>
          <p:cNvSpPr/>
          <p:nvPr userDrawn="1"/>
        </p:nvSpPr>
        <p:spPr>
          <a:xfrm>
            <a:off x="6430771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7899F8-DBAB-4DCC-857C-94A3CF0FE542}"/>
              </a:ext>
            </a:extLst>
          </p:cNvPr>
          <p:cNvSpPr/>
          <p:nvPr userDrawn="1"/>
        </p:nvSpPr>
        <p:spPr>
          <a:xfrm>
            <a:off x="8802995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41C8F6-B68C-4B34-A1EC-848B6301BE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8" y="1566777"/>
            <a:ext cx="7286604" cy="634323"/>
          </a:xfrm>
        </p:spPr>
        <p:txBody>
          <a:bodyPr anchor="t">
            <a:normAutofit/>
          </a:bodyPr>
          <a:lstStyle>
            <a:lvl1pPr algn="ctr">
              <a:lnSpc>
                <a:spcPct val="125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140602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Full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B7C369-B3B1-47DB-AFB5-4A2FA0A046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DB6E9-4285-4C1C-9752-2D43D607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EDB06-237E-4E77-B217-FD0E19A4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ACDA0-CD42-4B14-A524-FF6FF7E2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C5DE79-8AB4-425F-A9CB-B17901806732}"/>
              </a:ext>
            </a:extLst>
          </p:cNvPr>
          <p:cNvSpPr/>
          <p:nvPr userDrawn="1"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bg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8FDD580-B69C-4AF1-9C0C-1CF94ECEB2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8477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7A72E08F-5B05-415B-A503-4CED86D11F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8477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2D7BE41-1227-4D94-AC6E-F4D0074917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9016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7E8138A-A795-4EF2-B1FF-1A36693A35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39016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77F66B66-F2E4-439A-A7DF-A9A64B0DF7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9555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13CDFA66-0739-48E3-97B6-F63F13A0A8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9555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B4EE4B66-F80E-45BB-B2FE-CC11E1FBAF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80094" y="5098599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1F734C1-F867-4FB6-A239-D99ED9E4C5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0094" y="5414833"/>
            <a:ext cx="2118415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62" name="Picture Placeholder 9">
            <a:extLst>
              <a:ext uri="{FF2B5EF4-FFF2-40B4-BE49-F238E27FC236}">
                <a16:creationId xmlns:a16="http://schemas.microsoft.com/office/drawing/2014/main" id="{11E88FD1-69BB-4254-81B8-7B383CE8D2D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02390" y="232725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E6EBB7F2-ABDB-41F2-8A6B-93196276AB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18477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4D66759F-DBAD-46B4-929C-18F2FB541B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18477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07D90C20-BFF7-4D04-AD95-1861DF7450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39016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EF54F366-5FD7-4707-A0E3-FAFA53156C2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39016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A51158F4-509A-44E4-A601-2CD7AEDE7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59555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71" name="Text Placeholder 10">
            <a:extLst>
              <a:ext uri="{FF2B5EF4-FFF2-40B4-BE49-F238E27FC236}">
                <a16:creationId xmlns:a16="http://schemas.microsoft.com/office/drawing/2014/main" id="{DA9AC8DA-4C66-4D66-9075-59DC95E2AC3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59555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2" name="Text Placeholder 10">
            <a:extLst>
              <a:ext uri="{FF2B5EF4-FFF2-40B4-BE49-F238E27FC236}">
                <a16:creationId xmlns:a16="http://schemas.microsoft.com/office/drawing/2014/main" id="{F3A598D9-D412-4C15-A31C-3A4842B32E1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80094" y="3263610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73" name="Text Placeholder 10">
            <a:extLst>
              <a:ext uri="{FF2B5EF4-FFF2-40B4-BE49-F238E27FC236}">
                <a16:creationId xmlns:a16="http://schemas.microsoft.com/office/drawing/2014/main" id="{14A0A9AD-40F7-4203-917C-8BFBF4FCF2C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80094" y="3579845"/>
            <a:ext cx="2118415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9E220D-4268-4E0B-B292-D87F92DF6ED3}"/>
              </a:ext>
            </a:extLst>
          </p:cNvPr>
          <p:cNvSpPr/>
          <p:nvPr userDrawn="1"/>
        </p:nvSpPr>
        <p:spPr>
          <a:xfrm>
            <a:off x="1947081" y="227264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Picture Placeholder 9">
            <a:extLst>
              <a:ext uri="{FF2B5EF4-FFF2-40B4-BE49-F238E27FC236}">
                <a16:creationId xmlns:a16="http://schemas.microsoft.com/office/drawing/2014/main" id="{2DB6BDC2-D18B-4AF7-9B33-2FB86D67A64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002390" y="4154796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B9D855A-B11D-44DC-BBE1-7BA68BD18E68}"/>
              </a:ext>
            </a:extLst>
          </p:cNvPr>
          <p:cNvSpPr/>
          <p:nvPr userDrawn="1"/>
        </p:nvSpPr>
        <p:spPr>
          <a:xfrm>
            <a:off x="1947081" y="4100189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Picture Placeholder 9">
            <a:extLst>
              <a:ext uri="{FF2B5EF4-FFF2-40B4-BE49-F238E27FC236}">
                <a16:creationId xmlns:a16="http://schemas.microsoft.com/office/drawing/2014/main" id="{D12B69C6-4468-4017-A141-0864B9065E88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22929" y="231923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874C203-B833-4D0D-9674-D25DFA3F9606}"/>
              </a:ext>
            </a:extLst>
          </p:cNvPr>
          <p:cNvSpPr/>
          <p:nvPr userDrawn="1"/>
        </p:nvSpPr>
        <p:spPr>
          <a:xfrm>
            <a:off x="4367620" y="226462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Picture Placeholder 9">
            <a:extLst>
              <a:ext uri="{FF2B5EF4-FFF2-40B4-BE49-F238E27FC236}">
                <a16:creationId xmlns:a16="http://schemas.microsoft.com/office/drawing/2014/main" id="{0B83E94D-7A2E-4F82-9F6F-414BB1EE1F9D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422929" y="414677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4DE692-CD53-4D36-9E21-EDBFA9779183}"/>
              </a:ext>
            </a:extLst>
          </p:cNvPr>
          <p:cNvSpPr/>
          <p:nvPr userDrawn="1"/>
        </p:nvSpPr>
        <p:spPr>
          <a:xfrm>
            <a:off x="4367620" y="409216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Picture Placeholder 9">
            <a:extLst>
              <a:ext uri="{FF2B5EF4-FFF2-40B4-BE49-F238E27FC236}">
                <a16:creationId xmlns:a16="http://schemas.microsoft.com/office/drawing/2014/main" id="{722A2533-C7FE-4FF8-88EA-CC5A72E587E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843468" y="232394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0564730-564F-4992-974D-020B105689EE}"/>
              </a:ext>
            </a:extLst>
          </p:cNvPr>
          <p:cNvSpPr/>
          <p:nvPr userDrawn="1"/>
        </p:nvSpPr>
        <p:spPr>
          <a:xfrm>
            <a:off x="6788159" y="226933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Picture Placeholder 9">
            <a:extLst>
              <a:ext uri="{FF2B5EF4-FFF2-40B4-BE49-F238E27FC236}">
                <a16:creationId xmlns:a16="http://schemas.microsoft.com/office/drawing/2014/main" id="{3FF1C129-85E6-40AA-8026-14C47F0F038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843468" y="415148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E7D63A3-3C58-4F80-B353-C26650B97F55}"/>
              </a:ext>
            </a:extLst>
          </p:cNvPr>
          <p:cNvSpPr/>
          <p:nvPr userDrawn="1"/>
        </p:nvSpPr>
        <p:spPr>
          <a:xfrm>
            <a:off x="6788159" y="409687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Picture Placeholder 9">
            <a:extLst>
              <a:ext uri="{FF2B5EF4-FFF2-40B4-BE49-F238E27FC236}">
                <a16:creationId xmlns:a16="http://schemas.microsoft.com/office/drawing/2014/main" id="{C78943C0-07AD-428D-A010-64CDDC815654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9264007" y="2315923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4D0D2B8-EB2F-407A-A7DF-29BF878D0C97}"/>
              </a:ext>
            </a:extLst>
          </p:cNvPr>
          <p:cNvSpPr/>
          <p:nvPr userDrawn="1"/>
        </p:nvSpPr>
        <p:spPr>
          <a:xfrm>
            <a:off x="9208698" y="2261316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Picture Placeholder 9">
            <a:extLst>
              <a:ext uri="{FF2B5EF4-FFF2-40B4-BE49-F238E27FC236}">
                <a16:creationId xmlns:a16="http://schemas.microsoft.com/office/drawing/2014/main" id="{9F5D0399-2186-4D0F-B2B6-FB29536013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9264007" y="414346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161A1AC-702C-4209-BE7C-E51F7434B5B5}"/>
              </a:ext>
            </a:extLst>
          </p:cNvPr>
          <p:cNvSpPr/>
          <p:nvPr userDrawn="1"/>
        </p:nvSpPr>
        <p:spPr>
          <a:xfrm>
            <a:off x="9208698" y="408885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8ADA00ED-298B-444A-A7F5-508EDBA56F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8" y="1187753"/>
            <a:ext cx="7286604" cy="634323"/>
          </a:xfrm>
        </p:spPr>
        <p:txBody>
          <a:bodyPr anchor="t">
            <a:normAutofit/>
          </a:bodyPr>
          <a:lstStyle>
            <a:lvl1pPr algn="ctr">
              <a:lnSpc>
                <a:spcPct val="125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77886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C2989-2CED-47FB-8D23-FF60F2561E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29704-4AB7-47AB-8C1F-4C2E4C99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48280-3106-454C-9D69-9BD1267B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26433-6916-408B-BE80-EB35C6930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7D1BF6-CA32-48D3-B8AE-5D5C621A7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57E488F-AD89-4213-9093-5646DF323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511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E31C9DEB-43A3-4514-9EB8-2CE147497B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0511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254EC399-E62D-401A-936C-2B26F8265F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4039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F49DC18-7C09-4FFC-98BF-DC17FCE622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4039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9D21F281-5009-4E28-B34E-218C36B33A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7567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C2A3FB-F206-4ED3-A8BF-712D66D52D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67567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33D1544-1248-444D-B0AC-C5B22E1D26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094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F4FDF38-0969-49B5-BE15-AB7D41B68D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1094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749E3E6-EB0F-4108-9196-2A2DDD63E2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  <a:defRPr sz="28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A8E4A5D-4A2C-4FCA-9886-11A6692866A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D12F1290-6B4C-49B8-BC26-3B433534C3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E60E704-AD01-4048-8D70-3F4CA25DA6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CB251EF-EB2B-4D32-A321-FEC37EAB8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791732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D2CF4D42-6C74-47FD-8195-943D55ADA8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75658-2C01-4217-AE99-DF0FDFFE4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13D93-CECF-4647-8DC2-8F7DD04E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60507-1EAA-4632-9D67-1BD599F4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754639B-AD71-425C-BF07-356C0F14C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353381"/>
            <a:ext cx="5622878" cy="4151236"/>
          </a:xfrm>
          <a:solidFill>
            <a:schemeClr val="accent3">
              <a:alpha val="90000"/>
            </a:schemeClr>
          </a:solidFill>
        </p:spPr>
        <p:txBody>
          <a:bodyPr vert="horz" lIns="649224" tIns="749808" rIns="91440" bIns="45720" rtlCol="0" anchor="t">
            <a:noAutofit/>
          </a:bodyPr>
          <a:lstStyle>
            <a:lvl1pPr>
              <a:defRPr lang="en-US" sz="2800">
                <a:ln w="19050">
                  <a:solidFill>
                    <a:schemeClr val="bg1"/>
                  </a:solidFill>
                </a:ln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64CF3C46-90B8-467D-9D50-086B913570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993" y="2689071"/>
            <a:ext cx="4567209" cy="2212496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718030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10B86B2D-56E1-4FB2-8CC9-DBC6C0B6EB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81534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1D70C38F-1ABB-4C86-972A-E388226700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65112" y="2326705"/>
            <a:ext cx="4114592" cy="2212496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9B0AE4-4C17-4975-A59C-4D9EFE58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C9023-3371-40C0-A618-BF8AA20F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21E28-544B-4D00-A151-341F3D7E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07CF0-318A-401D-9F77-B63C65D296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52360" y="1728566"/>
            <a:ext cx="4127344" cy="724702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9880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0B4CC-1CD5-414E-92CD-721B331F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47427-FA4C-4262-9C2A-A640B569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89D4-4BDC-4CC9-959B-0D2E0BEB8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r>
              <a:rPr lang="en-US" dirty="0"/>
              <a:t>8/06/20XX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85D2-5742-46C4-A6B1-B07CC6823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7CF20-6E1A-4F87-A039-3C59B25DA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82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400" baseline="0">
          <a:ln w="19050">
            <a:solidFill>
              <a:schemeClr val="accent2"/>
            </a:solidFill>
          </a:ln>
          <a:noFill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A351523-BE9E-4047-8916-20F1F4A9F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 dirty="0">
                <a:ea typeface="+mn-ea"/>
                <a:cs typeface="+mn-cs"/>
              </a:rPr>
              <a:t>G</a:t>
            </a:r>
            <a:r>
              <a:rPr lang="en-US" sz="3200" b="1" dirty="0">
                <a:ea typeface="+mn-ea"/>
                <a:cs typeface="+mn-cs"/>
              </a:rPr>
              <a:t>ROUP 12</a:t>
            </a:r>
            <a:endParaRPr lang="en-US" sz="3200" b="1" dirty="0"/>
          </a:p>
        </p:txBody>
      </p:sp>
      <p:pic>
        <p:nvPicPr>
          <p:cNvPr id="65" name="Picture Placeholder 64" descr="Robotic hand and human hand almost touching with their pointer fingers">
            <a:extLst>
              <a:ext uri="{FF2B5EF4-FFF2-40B4-BE49-F238E27FC236}">
                <a16:creationId xmlns:a16="http://schemas.microsoft.com/office/drawing/2014/main" id="{B600DB70-7F2F-494E-82AC-37DB9BB59802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-2092961" y="2092960"/>
            <a:ext cx="6858002" cy="2672081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F23CBB-E21B-4E15-921E-9BC34BB9B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9266" y="5902822"/>
            <a:ext cx="4114800" cy="466344"/>
          </a:xfrm>
        </p:spPr>
        <p:txBody>
          <a:bodyPr/>
          <a:lstStyle/>
          <a:p>
            <a:r>
              <a:rPr lang="fr-FR" sz="1800" b="1" dirty="0">
                <a:latin typeface="Verdana" panose="020B0604030504040204" pitchFamily="34" charset="0"/>
                <a:ea typeface="Verdana" panose="020B0604030504040204" pitchFamily="34" charset="0"/>
              </a:rPr>
              <a:t>6/27/2025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344E7-35A9-4C78-BA1C-01350D5758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96032" y="3640666"/>
            <a:ext cx="8278367" cy="2208055"/>
          </a:xfrm>
        </p:spPr>
        <p:txBody>
          <a:bodyPr>
            <a:normAutofit/>
          </a:bodyPr>
          <a:lstStyle/>
          <a:p>
            <a:pPr algn="ctr"/>
            <a:r>
              <a:rPr lang="fr-FR" sz="3600" b="1" dirty="0"/>
              <a:t>TASK 4: SYSTEM MODELLING AND DESIGN</a:t>
            </a:r>
            <a:endParaRPr lang="en-US" sz="3600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D484A6-0026-41EC-B9C2-4408C2377B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2081" y="2502476"/>
            <a:ext cx="8537785" cy="714858"/>
          </a:xfrm>
        </p:spPr>
        <p:txBody>
          <a:bodyPr>
            <a:normAutofit/>
          </a:bodyPr>
          <a:lstStyle/>
          <a:p>
            <a:r>
              <a:rPr lang="fr-FR" sz="2000" dirty="0"/>
              <a:t>Mobile based Attendance management system based on geofencing and facial recognition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2431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D103FBC2-93DA-4F24-B8BE-37966E29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715939"/>
            <a:ext cx="4864608" cy="365760"/>
          </a:xfrm>
        </p:spPr>
        <p:txBody>
          <a:bodyPr/>
          <a:lstStyle/>
          <a:p>
            <a:r>
              <a:rPr lang="fr-FR" sz="4000" b="1" dirty="0"/>
              <a:t>A</a:t>
            </a:r>
            <a:r>
              <a:rPr lang="en-US" sz="4000" b="1" dirty="0"/>
              <a:t>GENDA</a:t>
            </a:r>
          </a:p>
        </p:txBody>
      </p:sp>
      <p:pic>
        <p:nvPicPr>
          <p:cNvPr id="46" name="Picture Placeholder 45" descr="A close up of a person wearing glasses and the measurements of the eyes">
            <a:extLst>
              <a:ext uri="{FF2B5EF4-FFF2-40B4-BE49-F238E27FC236}">
                <a16:creationId xmlns:a16="http://schemas.microsoft.com/office/drawing/2014/main" id="{4CCDE114-C87D-4D8A-AC71-4CEECD759FE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9733" y="0"/>
            <a:ext cx="5012267" cy="6867376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9EE126B-B5CD-4FEC-A36A-5B51A1CE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02E4C0-AD5E-4E8C-9F21-7CCE474BDCE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7DB6D-F2AA-4D27-8EB3-002C85F566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3750" y="1766062"/>
            <a:ext cx="5422392" cy="4590288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fr-FR" dirty="0"/>
              <a:t>The essence of UML diagrams in the development life cycle</a:t>
            </a:r>
          </a:p>
          <a:p>
            <a:pPr marL="514350" indent="-514350">
              <a:buAutoNum type="arabicParenR"/>
            </a:pPr>
            <a:r>
              <a:rPr lang="fr-FR" dirty="0"/>
              <a:t> Use case diagram</a:t>
            </a:r>
          </a:p>
          <a:p>
            <a:pPr marL="514350" indent="-514350">
              <a:buAutoNum type="arabicParenR"/>
            </a:pPr>
            <a:r>
              <a:rPr lang="fr-FR" dirty="0"/>
              <a:t> Class diagram</a:t>
            </a:r>
          </a:p>
          <a:p>
            <a:pPr marL="514350" indent="-514350">
              <a:buAutoNum type="arabicParenR"/>
            </a:pPr>
            <a:r>
              <a:rPr lang="en-US" dirty="0"/>
              <a:t> Context diagram</a:t>
            </a:r>
          </a:p>
          <a:p>
            <a:pPr marL="514350" indent="-514350">
              <a:buAutoNum type="arabicParenR"/>
            </a:pPr>
            <a:r>
              <a:rPr lang="en-US" dirty="0"/>
              <a:t> Data flow diagram</a:t>
            </a:r>
          </a:p>
          <a:p>
            <a:pPr marL="514350" indent="-514350">
              <a:buAutoNum type="arabicParenR"/>
            </a:pPr>
            <a:r>
              <a:rPr lang="en-US" dirty="0"/>
              <a:t>Sequence diagram</a:t>
            </a:r>
          </a:p>
          <a:p>
            <a:pPr marL="514350" indent="-514350">
              <a:buAutoNum type="arabicParenR"/>
            </a:pPr>
            <a:r>
              <a:rPr lang="en-US" dirty="0"/>
              <a:t>Deployment diagram</a:t>
            </a:r>
          </a:p>
          <a:p>
            <a:pPr marL="514350" indent="-51435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340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115C523A-AC40-4CBA-9DF4-B287ED32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2801"/>
            <a:ext cx="12191998" cy="5232400"/>
          </a:xfrm>
        </p:spPr>
        <p:txBody>
          <a:bodyPr/>
          <a:lstStyle/>
          <a:p>
            <a:pPr algn="ctr"/>
            <a:r>
              <a:rPr lang="fr-FR" sz="3200" b="1" dirty="0"/>
              <a:t>THE ESSENCE OF UML DIAGRAMS</a:t>
            </a:r>
            <a:endParaRPr lang="en-US" sz="32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894CA8-43A7-4B6C-837F-753AD73D9D0B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0" y="2148659"/>
            <a:ext cx="11938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Use Case Diagram: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Shows user interactions like marking and viewing attendance.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Class Diagram: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Defines system data entities and their relationships.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Sequence Diagram: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Illustrates step-by-step processes (example: marking attendance).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Deployment Diagram: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Displays physical system setup : mobile devices, servers, and databases.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Context Diagram: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Outlines the system boundary and external interactions.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Data Flow Diagram (DFD):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Visualizes how data moves between processes, data stores, and users.</a:t>
            </a:r>
          </a:p>
        </p:txBody>
      </p:sp>
    </p:spTree>
    <p:extLst>
      <p:ext uri="{BB962C8B-B14F-4D97-AF65-F5344CB8AC3E}">
        <p14:creationId xmlns:p14="http://schemas.microsoft.com/office/powerpoint/2010/main" val="188383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E468DC9-F7EA-4DDD-A3C6-7FED01F0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2" y="0"/>
            <a:ext cx="4165604" cy="6867376"/>
          </a:xfrm>
        </p:spPr>
        <p:txBody>
          <a:bodyPr>
            <a:normAutofit/>
          </a:bodyPr>
          <a:lstStyle/>
          <a:p>
            <a:r>
              <a:rPr lang="fr-FR" sz="2000" dirty="0"/>
              <a:t>U</a:t>
            </a:r>
            <a:r>
              <a:rPr lang="en-US" sz="2000" dirty="0"/>
              <a:t>SECASEDIAGRAM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1840D15-B3C7-4446-9131-8F222F601B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931" y="1034751"/>
            <a:ext cx="4250268" cy="5842000"/>
          </a:xfrm>
        </p:spPr>
        <p:txBody>
          <a:bodyPr>
            <a:noAutofit/>
          </a:bodyPr>
          <a:lstStyle/>
          <a:p>
            <a:r>
              <a:rPr lang="en-US" sz="1800" b="1" dirty="0"/>
              <a:t>Primary actors</a:t>
            </a:r>
            <a:r>
              <a:rPr lang="en-US" sz="1800" dirty="0"/>
              <a:t>: Students and Lecturers</a:t>
            </a:r>
          </a:p>
          <a:p>
            <a:r>
              <a:rPr lang="en-US" sz="1800" b="1" dirty="0"/>
              <a:t>Secondary actors</a:t>
            </a:r>
            <a:r>
              <a:rPr lang="en-US" sz="1800" dirty="0"/>
              <a:t>: IT Admin and System</a:t>
            </a:r>
          </a:p>
          <a:p>
            <a:r>
              <a:rPr lang="en-US" sz="1800" b="1" dirty="0"/>
              <a:t>Students</a:t>
            </a:r>
            <a:r>
              <a:rPr lang="en-US" sz="1800" dirty="0"/>
              <a:t>: Join courses, mark attendance, verify identity, request leave,report attendance issues,view attendance dashboard and profile</a:t>
            </a:r>
          </a:p>
          <a:p>
            <a:r>
              <a:rPr lang="en-US" sz="1800" b="1" dirty="0"/>
              <a:t>Lecturers</a:t>
            </a:r>
            <a:r>
              <a:rPr lang="en-US" sz="1800" dirty="0"/>
              <a:t>: Manage attendance sessions, handle disputes, download reports</a:t>
            </a:r>
          </a:p>
          <a:p>
            <a:r>
              <a:rPr lang="en-US" sz="1800" b="1" dirty="0"/>
              <a:t>IT Admin</a:t>
            </a:r>
            <a:r>
              <a:rPr lang="en-US" sz="1800" dirty="0"/>
              <a:t>: Manage configurations, courses, and system maintenance </a:t>
            </a:r>
          </a:p>
          <a:p>
            <a:r>
              <a:rPr lang="en-US" sz="1800" b="1" dirty="0"/>
              <a:t>System</a:t>
            </a:r>
            <a:r>
              <a:rPr lang="en-US" sz="1800" dirty="0"/>
              <a:t>: Handle notifications, logins, and background operations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BDB8CD1-3D87-478F-9669-24046B483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535" y="-9375"/>
            <a:ext cx="8060264" cy="68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77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17062936-5CF9-46DE-8DD5-5C63AAD75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0" y="118533"/>
            <a:ext cx="4385734" cy="6739466"/>
          </a:xfrm>
        </p:spPr>
        <p:txBody>
          <a:bodyPr>
            <a:normAutofit/>
          </a:bodyPr>
          <a:lstStyle/>
          <a:p>
            <a:r>
              <a:rPr lang="fr-FR" sz="2000" dirty="0"/>
              <a:t>CLASS DIAGRAM</a:t>
            </a:r>
            <a:endParaRPr lang="en-US" sz="2000" dirty="0"/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157DA62F-DBB5-42B6-A283-774219082B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90934" y="1236134"/>
            <a:ext cx="4325968" cy="5621866"/>
          </a:xfrm>
        </p:spPr>
        <p:txBody>
          <a:bodyPr/>
          <a:lstStyle/>
          <a:p>
            <a:r>
              <a:rPr lang="en-US" sz="1600" b="1" dirty="0"/>
              <a:t>Key Classes</a:t>
            </a:r>
            <a:r>
              <a:rPr lang="en-US" sz="1600" dirty="0"/>
              <a:t>: User, Student, Lecturer, Admin, Course, Attendance, Notification</a:t>
            </a:r>
          </a:p>
          <a:p>
            <a:r>
              <a:rPr lang="en-US" sz="1600" b="1" dirty="0"/>
              <a:t>User class</a:t>
            </a:r>
            <a:r>
              <a:rPr lang="en-US" sz="1600" dirty="0"/>
              <a:t>: Superclass with attributes like userId, name, email, password, role.</a:t>
            </a:r>
          </a:p>
          <a:p>
            <a:r>
              <a:rPr lang="en-US" sz="1600" b="1" dirty="0"/>
              <a:t>Student, </a:t>
            </a:r>
            <a:r>
              <a:rPr lang="en-US" sz="1600" b="1" dirty="0" err="1"/>
              <a:t>Lecturer,Admin</a:t>
            </a:r>
            <a:r>
              <a:rPr lang="en-US" sz="1600" dirty="0"/>
              <a:t>: Inherit from User</a:t>
            </a:r>
          </a:p>
          <a:p>
            <a:r>
              <a:rPr lang="en-US" sz="1600" b="1" dirty="0"/>
              <a:t>Course</a:t>
            </a:r>
            <a:r>
              <a:rPr lang="en-US" sz="1600" dirty="0"/>
              <a:t>: Contains </a:t>
            </a:r>
            <a:r>
              <a:rPr lang="en-US" sz="1600" dirty="0" err="1"/>
              <a:t>courseId</a:t>
            </a:r>
            <a:r>
              <a:rPr lang="en-US" sz="1600" dirty="0"/>
              <a:t>, </a:t>
            </a:r>
            <a:r>
              <a:rPr lang="en-US" sz="1600" dirty="0" err="1"/>
              <a:t>courseName</a:t>
            </a:r>
            <a:r>
              <a:rPr lang="en-US" sz="1600" dirty="0"/>
              <a:t>, </a:t>
            </a:r>
            <a:r>
              <a:rPr lang="en-US" sz="1600" dirty="0" err="1"/>
              <a:t>lecturerId</a:t>
            </a:r>
            <a:r>
              <a:rPr lang="en-US" sz="1600" dirty="0"/>
              <a:t>, description</a:t>
            </a:r>
          </a:p>
          <a:p>
            <a:r>
              <a:rPr lang="en-US" sz="1600" b="1" dirty="0"/>
              <a:t>Attendance</a:t>
            </a:r>
            <a:r>
              <a:rPr lang="en-US" sz="1600" dirty="0"/>
              <a:t>: Records </a:t>
            </a:r>
            <a:r>
              <a:rPr lang="en-US" sz="1600" dirty="0" err="1"/>
              <a:t>attendanceId</a:t>
            </a:r>
            <a:r>
              <a:rPr lang="en-US" sz="1600" dirty="0"/>
              <a:t>, </a:t>
            </a:r>
            <a:r>
              <a:rPr lang="en-US" sz="1600" dirty="0" err="1"/>
              <a:t>studentId</a:t>
            </a:r>
            <a:r>
              <a:rPr lang="en-US" sz="1600" dirty="0"/>
              <a:t>, </a:t>
            </a:r>
            <a:r>
              <a:rPr lang="en-US" sz="1600" dirty="0" err="1"/>
              <a:t>courseId</a:t>
            </a:r>
            <a:r>
              <a:rPr lang="en-US" sz="1600" dirty="0"/>
              <a:t>, date, status</a:t>
            </a:r>
          </a:p>
          <a:p>
            <a:r>
              <a:rPr lang="en-US" sz="1600" b="1" dirty="0"/>
              <a:t>Notification</a:t>
            </a:r>
            <a:r>
              <a:rPr lang="en-US" sz="1600" dirty="0"/>
              <a:t>: Includes </a:t>
            </a:r>
            <a:r>
              <a:rPr lang="en-US" sz="1600" dirty="0" err="1"/>
              <a:t>notificationId</a:t>
            </a:r>
            <a:r>
              <a:rPr lang="en-US" sz="1600" dirty="0"/>
              <a:t>, title, message, timestamp </a:t>
            </a:r>
            <a:r>
              <a:rPr lang="en-US" sz="1600" b="1" dirty="0" err="1"/>
              <a:t>Relationships</a:t>
            </a:r>
            <a:r>
              <a:rPr lang="en-US" sz="1600" dirty="0" err="1"/>
              <a:t>:User</a:t>
            </a:r>
            <a:r>
              <a:rPr lang="en-US" sz="1600" dirty="0"/>
              <a:t> linked to multiple Attendance records. Course associated with multiple Students and a Lecturer. Notifications sent to Users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28E12F-7700-4563-957C-421B014F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9" y="118533"/>
            <a:ext cx="7777064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99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E60C9E5-E020-489F-8A9F-BCBE2A0C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8560" y="801001"/>
            <a:ext cx="4127344" cy="724702"/>
          </a:xfrm>
        </p:spPr>
        <p:txBody>
          <a:bodyPr/>
          <a:lstStyle/>
          <a:p>
            <a:r>
              <a:rPr lang="fr-FR" sz="2400" dirty="0" err="1"/>
              <a:t>Contex</a:t>
            </a:r>
            <a:r>
              <a:rPr lang="fr-FR" sz="2400" dirty="0"/>
              <a:t> diagram</a:t>
            </a:r>
            <a:endParaRPr lang="en-US" sz="2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FE13D-FAFA-49AC-A113-E917401DD9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13600" y="1388534"/>
            <a:ext cx="4978400" cy="5469466"/>
          </a:xfrm>
        </p:spPr>
        <p:txBody>
          <a:bodyPr/>
          <a:lstStyle/>
          <a:p>
            <a:r>
              <a:rPr lang="en-US" sz="1800" b="1" dirty="0"/>
              <a:t>External Entities</a:t>
            </a:r>
            <a:r>
              <a:rPr lang="en-US" sz="1800" dirty="0"/>
              <a:t>: Student, Lecturer, IT Admin</a:t>
            </a:r>
          </a:p>
          <a:p>
            <a:r>
              <a:rPr lang="en-US" sz="1800" b="1" dirty="0"/>
              <a:t>System</a:t>
            </a:r>
            <a:r>
              <a:rPr lang="en-US" sz="1800" dirty="0"/>
              <a:t>: Mobile-Based Attendance Management System</a:t>
            </a:r>
          </a:p>
          <a:p>
            <a:r>
              <a:rPr lang="en-US" sz="1800" b="1" dirty="0"/>
              <a:t>Student sends</a:t>
            </a:r>
            <a:r>
              <a:rPr lang="en-US" sz="1800" dirty="0"/>
              <a:t>: Login credentials, check-ins, leave requests</a:t>
            </a:r>
          </a:p>
          <a:p>
            <a:r>
              <a:rPr lang="en-US" sz="1800" b="1" dirty="0"/>
              <a:t>Student receives</a:t>
            </a:r>
            <a:r>
              <a:rPr lang="en-US" sz="1800" dirty="0"/>
              <a:t>: Attendance reports</a:t>
            </a:r>
          </a:p>
          <a:p>
            <a:r>
              <a:rPr lang="en-US" sz="1800" b="1" dirty="0"/>
              <a:t>Lecturer sends</a:t>
            </a:r>
            <a:r>
              <a:rPr lang="en-US" sz="1800" dirty="0"/>
              <a:t>: Class session updates, assisted check-ins, login credentials </a:t>
            </a:r>
            <a:r>
              <a:rPr lang="en-US" sz="1800" b="1" dirty="0"/>
              <a:t>Lecturer receives</a:t>
            </a:r>
            <a:r>
              <a:rPr lang="en-US" sz="1800" dirty="0"/>
              <a:t>: Attendance records, analytics, reports</a:t>
            </a:r>
          </a:p>
          <a:p>
            <a:r>
              <a:rPr lang="en-US" sz="1800" b="1" dirty="0"/>
              <a:t>IT Admin sends</a:t>
            </a:r>
            <a:r>
              <a:rPr lang="en-US" sz="1800" dirty="0"/>
              <a:t>: User and course management data and </a:t>
            </a:r>
            <a:r>
              <a:rPr lang="en-US" sz="1800" b="1" dirty="0"/>
              <a:t>IT Admin receives</a:t>
            </a:r>
            <a:r>
              <a:rPr lang="en-US" sz="1800" dirty="0"/>
              <a:t>: System logs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4E16E2-BC2C-454B-8AE1-A7212FEBC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7" y="801001"/>
            <a:ext cx="7027333" cy="551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696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Date Placeholder 169">
            <a:extLst>
              <a:ext uri="{FF2B5EF4-FFF2-40B4-BE49-F238E27FC236}">
                <a16:creationId xmlns:a16="http://schemas.microsoft.com/office/drawing/2014/main" id="{858C6970-5076-4B31-AADB-4CB24661C0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7" name="Title 46">
            <a:extLst>
              <a:ext uri="{FF2B5EF4-FFF2-40B4-BE49-F238E27FC236}">
                <a16:creationId xmlns:a16="http://schemas.microsoft.com/office/drawing/2014/main" id="{B8AD9710-779D-4FA0-81DF-0F195591C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98" y="403731"/>
            <a:ext cx="4013201" cy="324263"/>
          </a:xfrm>
        </p:spPr>
        <p:txBody>
          <a:bodyPr/>
          <a:lstStyle/>
          <a:p>
            <a:r>
              <a:rPr lang="fr-FR" sz="2000" dirty="0"/>
              <a:t>DATADLOW DIAGRAM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D214D1-9051-4CEE-AD54-491CF4D31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7" y="136525"/>
            <a:ext cx="7552265" cy="6584949"/>
          </a:xfrm>
          <a:prstGeom prst="rect">
            <a:avLst/>
          </a:prstGeom>
        </p:spPr>
      </p:pic>
      <p:sp>
        <p:nvSpPr>
          <p:cNvPr id="17" name="Rectangle 5">
            <a:extLst>
              <a:ext uri="{FF2B5EF4-FFF2-40B4-BE49-F238E27FC236}">
                <a16:creationId xmlns:a16="http://schemas.microsoft.com/office/drawing/2014/main" id="{8BC58AF6-6CC5-43F0-9AFA-2455AACC3AEE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8008939" y="945069"/>
            <a:ext cx="4183062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User Registration &amp; Login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Students sign up using a form and facial biometrics. Lecturers log in with their credentials. The system verifies all credentials.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Course Management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Students add their courses to the system using their Student ID. Course data is stored in the course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Attendance Session Initiation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Lecturers start an attendance session from their dashboard, which activates check-in.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Student Check-In Process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Students check in by validating their GPS location and face using geofencing and facial recognition services. Validated attendance is stored.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Report Generation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Lecturers can generate and download attendance reports based on stored data.</a:t>
            </a:r>
          </a:p>
        </p:txBody>
      </p:sp>
    </p:spTree>
    <p:extLst>
      <p:ext uri="{BB962C8B-B14F-4D97-AF65-F5344CB8AC3E}">
        <p14:creationId xmlns:p14="http://schemas.microsoft.com/office/powerpoint/2010/main" val="1057146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01A4D341-9CED-415E-A417-C204833D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8067" y="308911"/>
            <a:ext cx="3970868" cy="334556"/>
          </a:xfrm>
        </p:spPr>
        <p:txBody>
          <a:bodyPr>
            <a:normAutofit fontScale="90000"/>
          </a:bodyPr>
          <a:lstStyle/>
          <a:p>
            <a:r>
              <a:rPr lang="fr-FR" sz="2000" dirty="0">
                <a:ea typeface="+mn-ea"/>
                <a:cs typeface="+mn-cs"/>
              </a:rPr>
              <a:t>S</a:t>
            </a:r>
            <a:r>
              <a:rPr lang="en-US" sz="2000" dirty="0">
                <a:ea typeface="+mn-ea"/>
                <a:cs typeface="+mn-cs"/>
              </a:rPr>
              <a:t>EQUENCE DIAGRAM</a:t>
            </a:r>
            <a:endParaRPr lang="en-US" sz="20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DAE83BA-7D33-4E68-A9C2-9551E7823F0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38066" y="914400"/>
            <a:ext cx="3970867" cy="582506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Student opens the app and starts the check-in process.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Mobile app authenticates the student and retrieves GPS coordinates.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Location is verified via geofencing logic on the backend.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If location is valid:</a:t>
            </a:r>
          </a:p>
          <a:p>
            <a:r>
              <a:rPr lang="en-US" sz="2000" dirty="0"/>
              <a:t>      The app captures the student’s     face.</a:t>
            </a:r>
          </a:p>
          <a:p>
            <a:r>
              <a:rPr lang="en-US" sz="2000" dirty="0"/>
              <a:t>      Face is matched with stored data using facial recognition.</a:t>
            </a:r>
          </a:p>
          <a:p>
            <a:r>
              <a:rPr lang="en-US" sz="2000" dirty="0"/>
              <a:t>      If both match, attendance is logged successfully.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If location is </a:t>
            </a:r>
            <a:r>
              <a:rPr lang="en-US" sz="2000" dirty="0" err="1"/>
              <a:t>invalid:App</a:t>
            </a:r>
            <a:r>
              <a:rPr lang="en-US" sz="2000" dirty="0"/>
              <a:t> notifies the student they’re not at the required location</a:t>
            </a:r>
            <a:r>
              <a:rPr lang="en-US" dirty="0"/>
              <a:t>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AE3867B-A004-4447-BEE2-BC463DF9F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238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75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4F4C28E4-6D60-402B-8F22-B1AED571D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600" y="484220"/>
            <a:ext cx="4216399" cy="413247"/>
          </a:xfrm>
        </p:spPr>
        <p:txBody>
          <a:bodyPr>
            <a:normAutofit fontScale="90000"/>
          </a:bodyPr>
          <a:lstStyle/>
          <a:p>
            <a:r>
              <a:rPr lang="fr-FR" sz="2000" dirty="0"/>
              <a:t>D</a:t>
            </a:r>
            <a:r>
              <a:rPr lang="en-US" sz="2000" dirty="0"/>
              <a:t>eployment diagram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B8BADB58-1EE2-40F4-ADDD-CD3D8BB150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98933" y="897467"/>
            <a:ext cx="3403599" cy="5960533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Student Mobile </a:t>
            </a:r>
            <a:r>
              <a:rPr lang="en-US" sz="1800" dirty="0" err="1"/>
              <a:t>AppBuilt</a:t>
            </a:r>
            <a:r>
              <a:rPr lang="en-US" sz="1800" dirty="0"/>
              <a:t> with React Native, includes camera and GPS modules for check-in.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Instructor Mobile App </a:t>
            </a:r>
            <a:r>
              <a:rPr lang="en-US" sz="1800" dirty="0"/>
              <a:t>Uses React Native and a classroom attendance scanner to monitor student presence.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Admin Mobile App </a:t>
            </a:r>
            <a:r>
              <a:rPr lang="en-US" sz="1800" dirty="0"/>
              <a:t>Built in React Native, includes modules for dashboard access, system monitoring, and user management.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Cloud Server </a:t>
            </a:r>
            <a:r>
              <a:rPr lang="en-US" sz="1800" dirty="0"/>
              <a:t>Central backend using Firebase (Auth, Database, and Logic), communicates with all apps via secure HTTPS REST APIs.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8D85FD-0027-4084-8472-5FE5C729D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67" y="220134"/>
            <a:ext cx="7411383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9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0">
            <a:extLst>
              <a:ext uri="{FF2B5EF4-FFF2-40B4-BE49-F238E27FC236}">
                <a16:creationId xmlns:a16="http://schemas.microsoft.com/office/drawing/2014/main" id="{CC9F3600-2711-4A49-8018-C4671B561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</a:t>
            </a:r>
            <a:r>
              <a:rPr lang="en-US" dirty="0" err="1"/>
              <a:t>onclusion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42BC471-A2E1-4473-9B5A-6D7A21B6A88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422399" y="2878668"/>
            <a:ext cx="9872133" cy="2726266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The diagrams provide a clear overview of the system’s structure and processes, including secure check-in using GPS and facial recognition, and interactions between mobile apps and backend services. They lay a strong foundation for the next step: UI design and implementation, helping ensure a smooth, efficient transition to building a functional and user-friendly system.</a:t>
            </a:r>
          </a:p>
        </p:txBody>
      </p:sp>
    </p:spTree>
    <p:extLst>
      <p:ext uri="{BB962C8B-B14F-4D97-AF65-F5344CB8AC3E}">
        <p14:creationId xmlns:p14="http://schemas.microsoft.com/office/powerpoint/2010/main" val="2378828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Placeholder 26" descr="Robot hand and human hand almost touch with their pointer fingers">
            <a:extLst>
              <a:ext uri="{FF2B5EF4-FFF2-40B4-BE49-F238E27FC236}">
                <a16:creationId xmlns:a16="http://schemas.microsoft.com/office/drawing/2014/main" id="{99832064-71DC-4D4A-BF64-B140BE0DBC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A8DDD42-D29D-4ECB-A465-13EFA049E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</a:t>
            </a:r>
            <a:r>
              <a:rPr lang="en-US" dirty="0"/>
              <a:t>hank you </a:t>
            </a:r>
          </a:p>
        </p:txBody>
      </p:sp>
    </p:spTree>
    <p:extLst>
      <p:ext uri="{BB962C8B-B14F-4D97-AF65-F5344CB8AC3E}">
        <p14:creationId xmlns:p14="http://schemas.microsoft.com/office/powerpoint/2010/main" val="2093948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A1380"/>
      </a:accent1>
      <a:accent2>
        <a:srgbClr val="0C1A69"/>
      </a:accent2>
      <a:accent3>
        <a:srgbClr val="F4292E"/>
      </a:accent3>
      <a:accent4>
        <a:srgbClr val="FD49C1"/>
      </a:accent4>
      <a:accent5>
        <a:srgbClr val="15C7C7"/>
      </a:accent5>
      <a:accent6>
        <a:srgbClr val="02DCFA"/>
      </a:accent6>
      <a:hlink>
        <a:srgbClr val="0563C1"/>
      </a:hlink>
      <a:folHlink>
        <a:srgbClr val="954F72"/>
      </a:folHlink>
    </a:clrScheme>
    <a:fontScheme name="Custom 31">
      <a:majorFont>
        <a:latin typeface="Posterama Bold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itch Deck_TM33781529_Win32_JC_v3" id="{862F7C05-3205-4562-AA5F-868BCB6856F9}" vid="{97BBE2DD-0E32-4C1B-8BB2-0414672F31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2" ma:contentTypeDescription="Create a new document." ma:contentTypeScope="" ma:versionID="5a5774fd28510f591f3d0476b60c796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656ce980f6f53fc96333c5ee30c32b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D2FAC4-C1D8-4FBC-AFD8-786609711A5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E89A24D-CD69-45A4-AC93-53B8115AA4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BF0F94-36C0-430F-8DDE-AF914AC0C0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Tech pitch deck</Template>
  <TotalTime>227</TotalTime>
  <Words>718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Bierstadt</vt:lpstr>
      <vt:lpstr>Arial</vt:lpstr>
      <vt:lpstr>Courier New</vt:lpstr>
      <vt:lpstr>Posterama</vt:lpstr>
      <vt:lpstr>Wingdings</vt:lpstr>
      <vt:lpstr>Calibri</vt:lpstr>
      <vt:lpstr>Posterama Bold</vt:lpstr>
      <vt:lpstr>Verdana</vt:lpstr>
      <vt:lpstr>Office Theme</vt:lpstr>
      <vt:lpstr>GROUP 12</vt:lpstr>
      <vt:lpstr>AGENDA</vt:lpstr>
      <vt:lpstr>THE ESSENCE OF UML DIAGRAMS</vt:lpstr>
      <vt:lpstr>USECASEDIAGRAM</vt:lpstr>
      <vt:lpstr>CLASS DIAGRAM</vt:lpstr>
      <vt:lpstr>Contex diagram</vt:lpstr>
      <vt:lpstr>DATADLOW DIAGRAM</vt:lpstr>
      <vt:lpstr>SEQUENCE DIAGRAM</vt:lpstr>
      <vt:lpstr>Deployment diagram</vt:lpstr>
      <vt:lpstr>conclusion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kereine nguimenang</dc:creator>
  <cp:lastModifiedBy>kereine nguimenang</cp:lastModifiedBy>
  <cp:revision>22</cp:revision>
  <dcterms:created xsi:type="dcterms:W3CDTF">2025-05-26T15:58:44Z</dcterms:created>
  <dcterms:modified xsi:type="dcterms:W3CDTF">2025-05-26T19:45:46Z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