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5" r:id="rId11"/>
    <p:sldId id="267" r:id="rId12"/>
    <p:sldId id="268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aleway Bold" panose="020B0604020202020204" charset="0"/>
      <p:regular r:id="rId18"/>
    </p:embeddedFont>
    <p:embeddedFont>
      <p:font typeface="Raleway Medium" pitchFamily="2" charset="0"/>
      <p:regular r:id="rId19"/>
      <p:italic r:id="rId20"/>
    </p:embeddedFont>
    <p:embeddedFont>
      <p:font typeface="Raleway Semi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08050" y="2014066"/>
            <a:ext cx="5746778" cy="6258867"/>
          </a:xfrm>
          <a:custGeom>
            <a:avLst/>
            <a:gdLst/>
            <a:ahLst/>
            <a:cxnLst/>
            <a:rect l="l" t="t" r="r" b="b"/>
            <a:pathLst>
              <a:path w="5746778" h="6258867">
                <a:moveTo>
                  <a:pt x="0" y="0"/>
                </a:moveTo>
                <a:lnTo>
                  <a:pt x="5746778" y="0"/>
                </a:lnTo>
                <a:lnTo>
                  <a:pt x="5746778" y="6258868"/>
                </a:lnTo>
                <a:lnTo>
                  <a:pt x="0" y="625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19200" y="3714696"/>
            <a:ext cx="8719412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100"/>
              </a:lnSpc>
            </a:pPr>
            <a:r>
              <a:rPr lang="en-US" sz="9000" b="1" spc="-413">
                <a:solidFill>
                  <a:srgbClr val="0097B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Analysis of requirements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8877297"/>
            <a:ext cx="9179504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>
                <a:solidFill>
                  <a:srgbClr val="56AE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by: Group 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6579528"/>
            <a:ext cx="792480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14">
                <a:solidFill>
                  <a:srgbClr val="56AE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Mobile-Based Attendance Management System Based on Geofencing and Facial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46079" y="1920197"/>
            <a:ext cx="6270790" cy="6446606"/>
          </a:xfrm>
          <a:custGeom>
            <a:avLst/>
            <a:gdLst/>
            <a:ahLst/>
            <a:cxnLst/>
            <a:rect l="l" t="t" r="r" b="b"/>
            <a:pathLst>
              <a:path w="6270790" h="6446606">
                <a:moveTo>
                  <a:pt x="0" y="0"/>
                </a:moveTo>
                <a:lnTo>
                  <a:pt x="6270790" y="0"/>
                </a:lnTo>
                <a:lnTo>
                  <a:pt x="6270790" y="6446606"/>
                </a:lnTo>
                <a:lnTo>
                  <a:pt x="0" y="6446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676400" y="495300"/>
            <a:ext cx="7924800" cy="115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 dirty="0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4900" y="5067300"/>
            <a:ext cx="7635008" cy="48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b="1" dirty="0">
              <a:solidFill>
                <a:srgbClr val="FBF6F1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698479" y="2072597"/>
            <a:ext cx="6270790" cy="6446606"/>
          </a:xfrm>
          <a:custGeom>
            <a:avLst/>
            <a:gdLst/>
            <a:ahLst/>
            <a:cxnLst/>
            <a:rect l="l" t="t" r="r" b="b"/>
            <a:pathLst>
              <a:path w="6270790" h="6446606">
                <a:moveTo>
                  <a:pt x="0" y="0"/>
                </a:moveTo>
                <a:lnTo>
                  <a:pt x="6270790" y="0"/>
                </a:lnTo>
                <a:lnTo>
                  <a:pt x="6270790" y="6446606"/>
                </a:lnTo>
                <a:lnTo>
                  <a:pt x="0" y="6446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37CFE-51AE-4C4C-8771-1A1006E4D5D7}"/>
              </a:ext>
            </a:extLst>
          </p:cNvPr>
          <p:cNvSpPr txBox="1"/>
          <p:nvPr/>
        </p:nvSpPr>
        <p:spPr>
          <a:xfrm>
            <a:off x="1143000" y="2092998"/>
            <a:ext cx="67818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Objective: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Transition from </a:t>
            </a:r>
            <a:r>
              <a:rPr lang="en-US" sz="2800" b="1" dirty="0"/>
              <a:t>Requirement Gathering </a:t>
            </a:r>
            <a:r>
              <a:rPr lang="en-US" sz="2800" dirty="0"/>
              <a:t>to </a:t>
            </a:r>
            <a:r>
              <a:rPr lang="en-US" sz="2800" b="1" dirty="0"/>
              <a:t>Requirement Analysis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 requirements are clear, feasible, and actionable before system design.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5E626-1F86-4DAC-89FB-A65CA39E3B8F}"/>
              </a:ext>
            </a:extLst>
          </p:cNvPr>
          <p:cNvSpPr txBox="1"/>
          <p:nvPr/>
        </p:nvSpPr>
        <p:spPr>
          <a:xfrm>
            <a:off x="1249679" y="5332749"/>
            <a:ext cx="9144000" cy="347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Tasks Covered: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Review &amp; analyze gathered requirements.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Identify gaps (inconsistencies, ambiguities, missing info).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Prioritize &amp; classify (functional vs. non-functional).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Develop Software Requirement Specification (SRS).  </a:t>
            </a:r>
          </a:p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Validate with stakeholders (faculty, IT, students). 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266700"/>
            <a:ext cx="15849600" cy="1058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6600" b="1" spc="-461" dirty="0">
                <a:solidFill>
                  <a:srgbClr val="56AE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Review &amp; Analysis of Gathered Requirements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8176" y="1638300"/>
            <a:ext cx="9417824" cy="7919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u="sng" dirty="0">
                <a:solidFill>
                  <a:srgbClr val="00B0F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1. Completeness Check:  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97B2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- </a:t>
            </a:r>
            <a:r>
              <a:rPr lang="en-US" sz="2200" b="1" dirty="0">
                <a:latin typeface="Raleway Semi-Bold"/>
                <a:ea typeface="Raleway Semi-Bold"/>
                <a:cs typeface="Raleway Semi-Bold"/>
                <a:sym typeface="Raleway Semi-Bold"/>
              </a:rPr>
              <a:t>Are all core features covered?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Geofencing</a:t>
            </a:r>
            <a:r>
              <a:rPr lang="en-US" sz="2200" b="1" dirty="0">
                <a:latin typeface="Raleway Semi-Bold"/>
                <a:ea typeface="Raleway Semi-Bold"/>
                <a:cs typeface="Raleway Semi-Bold"/>
                <a:sym typeface="Raleway Semi-Bold"/>
              </a:rPr>
              <a:t>: Defined boundary (e.g., 50m radius around lecture hall).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Raleway Semi-Bold"/>
                <a:ea typeface="Raleway Semi-Bold"/>
                <a:cs typeface="Raleway Semi-Bold"/>
                <a:sym typeface="Raleway Semi-Bold"/>
              </a:rPr>
              <a:t>Facial Recognition: Liveness detection, offline support. 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97B2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u="sng" dirty="0">
                <a:solidFill>
                  <a:srgbClr val="00B0F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2. Clarity Check: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Avoid vague terms like "fast" or "accurate." Instead: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"Facial recognition must achieve ≥95% confidence score.“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97B2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u="sng" dirty="0">
                <a:solidFill>
                  <a:srgbClr val="00B0F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3. Technical Feasibility: </a:t>
            </a:r>
            <a:r>
              <a:rPr lang="en-US" sz="2200" b="1" dirty="0">
                <a:solidFill>
                  <a:srgbClr val="00B0F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Geofencing: GPS drift may affect accuracy—should we use Wi-Fi/Bluetooth beacons as backup?  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97B2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b="1" u="sng" dirty="0">
                <a:solidFill>
                  <a:srgbClr val="00B0F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4. Dependency Relationships:  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Facial Recognition requires: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Camera permission</a:t>
            </a:r>
          </a:p>
          <a:p>
            <a:pPr marL="237490" lvl="1" algn="l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Geofencing requires:  </a:t>
            </a:r>
          </a:p>
          <a:p>
            <a:pPr marL="580390" lvl="1" indent="-342900" algn="l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Location permissions (fine + coarse), Google Map API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97B2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193" y="975881"/>
            <a:ext cx="8539631" cy="834000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193405" y="190500"/>
            <a:ext cx="11257967" cy="130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145"/>
              </a:lnSpc>
            </a:pPr>
            <a:r>
              <a:rPr lang="en-US" sz="8000" b="1" spc="-461" dirty="0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Identified Issues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14600" y="2972937"/>
            <a:ext cx="11599094" cy="434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Inconsistencies: </a:t>
            </a:r>
            <a:r>
              <a:rPr lang="en-US" sz="2200" b="1" u="sng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Raleway Semi-Bold"/>
                <a:ea typeface="Raleway Semi-Bold"/>
                <a:cs typeface="Raleway Semi-Bold"/>
                <a:sym typeface="Raleway Semi-Bold"/>
              </a:rPr>
              <a:t>Example: Stakeholders said "real-time sync," but no definition. 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Raleway Semi-Bold"/>
                <a:ea typeface="Raleway Semi-Bold"/>
                <a:cs typeface="Raleway Semi-Bold"/>
                <a:sym typeface="Raleway Semi-Bold"/>
              </a:rPr>
              <a:t> Solution: Define as "data sync within 5 seconds of submission."  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D4F6E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Ambiguities: 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Example: "High accuracy" for facial recognition. 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 Solution: Quantify as "98% true positive rate with liveness detection.“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D4F6E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  <a:r>
              <a:rPr lang="en-US" sz="3200" u="sng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Missing Information: </a:t>
            </a:r>
            <a:r>
              <a:rPr lang="en-US" sz="2200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Data Retention: How long is attendance stored?  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Raleway Semi-Bold"/>
                <a:ea typeface="Raleway Semi-Bold"/>
                <a:cs typeface="Raleway Semi-Bold"/>
                <a:sym typeface="Raleway Semi-Bold"/>
              </a:rPr>
              <a:t>  Proposal: "Auto-delete after 1 semester (per GDPR)." </a:t>
            </a:r>
          </a:p>
        </p:txBody>
      </p: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57661" y="4028229"/>
            <a:ext cx="3294439" cy="4944885"/>
            <a:chOff x="0" y="0"/>
            <a:chExt cx="812863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63" cy="1302357"/>
            </a:xfrm>
            <a:custGeom>
              <a:avLst/>
              <a:gdLst/>
              <a:ahLst/>
              <a:cxnLst/>
              <a:rect l="l" t="t" r="r" b="b"/>
              <a:pathLst>
                <a:path w="812863" h="1302357">
                  <a:moveTo>
                    <a:pt x="20068" y="0"/>
                  </a:moveTo>
                  <a:lnTo>
                    <a:pt x="792795" y="0"/>
                  </a:lnTo>
                  <a:cubicBezTo>
                    <a:pt x="798118" y="0"/>
                    <a:pt x="803222" y="2114"/>
                    <a:pt x="806985" y="5878"/>
                  </a:cubicBezTo>
                  <a:cubicBezTo>
                    <a:pt x="810749" y="9641"/>
                    <a:pt x="812863" y="14745"/>
                    <a:pt x="812863" y="20068"/>
                  </a:cubicBezTo>
                  <a:lnTo>
                    <a:pt x="812863" y="1282289"/>
                  </a:lnTo>
                  <a:cubicBezTo>
                    <a:pt x="812863" y="1287611"/>
                    <a:pt x="810749" y="1292715"/>
                    <a:pt x="806985" y="1296479"/>
                  </a:cubicBezTo>
                  <a:cubicBezTo>
                    <a:pt x="803222" y="1300242"/>
                    <a:pt x="798118" y="1302357"/>
                    <a:pt x="792795" y="1302357"/>
                  </a:cubicBezTo>
                  <a:lnTo>
                    <a:pt x="20068" y="1302357"/>
                  </a:lnTo>
                  <a:cubicBezTo>
                    <a:pt x="14745" y="1302357"/>
                    <a:pt x="9641" y="1300242"/>
                    <a:pt x="5878" y="1296479"/>
                  </a:cubicBezTo>
                  <a:cubicBezTo>
                    <a:pt x="2114" y="1292715"/>
                    <a:pt x="0" y="1287611"/>
                    <a:pt x="0" y="1282289"/>
                  </a:cubicBezTo>
                  <a:lnTo>
                    <a:pt x="0" y="20068"/>
                  </a:lnTo>
                  <a:cubicBezTo>
                    <a:pt x="0" y="14745"/>
                    <a:pt x="2114" y="9641"/>
                    <a:pt x="5878" y="5878"/>
                  </a:cubicBezTo>
                  <a:cubicBezTo>
                    <a:pt x="9641" y="2114"/>
                    <a:pt x="14745" y="0"/>
                    <a:pt x="20068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63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7585" y="430386"/>
            <a:ext cx="13856669" cy="107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7200" b="1" spc="-461" dirty="0">
                <a:solidFill>
                  <a:srgbClr val="0097B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Prioritization of Requirements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47136" y="4083633"/>
            <a:ext cx="3705673" cy="4944885"/>
            <a:chOff x="0" y="0"/>
            <a:chExt cx="819450" cy="13023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9450" cy="1302357"/>
            </a:xfrm>
            <a:custGeom>
              <a:avLst/>
              <a:gdLst/>
              <a:ahLst/>
              <a:cxnLst/>
              <a:rect l="l" t="t" r="r" b="b"/>
              <a:pathLst>
                <a:path w="819450" h="1302357">
                  <a:moveTo>
                    <a:pt x="19906" y="0"/>
                  </a:moveTo>
                  <a:lnTo>
                    <a:pt x="799544" y="0"/>
                  </a:lnTo>
                  <a:cubicBezTo>
                    <a:pt x="810538" y="0"/>
                    <a:pt x="819450" y="8912"/>
                    <a:pt x="819450" y="19906"/>
                  </a:cubicBezTo>
                  <a:lnTo>
                    <a:pt x="819450" y="1282450"/>
                  </a:lnTo>
                  <a:cubicBezTo>
                    <a:pt x="819450" y="1293444"/>
                    <a:pt x="810538" y="1302357"/>
                    <a:pt x="799544" y="1302357"/>
                  </a:cubicBezTo>
                  <a:lnTo>
                    <a:pt x="19906" y="1302357"/>
                  </a:lnTo>
                  <a:cubicBezTo>
                    <a:pt x="8912" y="1302357"/>
                    <a:pt x="0" y="1293444"/>
                    <a:pt x="0" y="1282450"/>
                  </a:cubicBezTo>
                  <a:lnTo>
                    <a:pt x="0" y="19906"/>
                  </a:lnTo>
                  <a:cubicBezTo>
                    <a:pt x="0" y="8912"/>
                    <a:pt x="8912" y="0"/>
                    <a:pt x="19906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9450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9825" y="4028229"/>
            <a:ext cx="3456515" cy="4944885"/>
            <a:chOff x="0" y="0"/>
            <a:chExt cx="785777" cy="13023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5777" cy="1302357"/>
            </a:xfrm>
            <a:custGeom>
              <a:avLst/>
              <a:gdLst/>
              <a:ahLst/>
              <a:cxnLst/>
              <a:rect l="l" t="t" r="r" b="b"/>
              <a:pathLst>
                <a:path w="785777" h="1302357">
                  <a:moveTo>
                    <a:pt x="20759" y="0"/>
                  </a:moveTo>
                  <a:lnTo>
                    <a:pt x="765017" y="0"/>
                  </a:lnTo>
                  <a:cubicBezTo>
                    <a:pt x="776482" y="0"/>
                    <a:pt x="785777" y="9294"/>
                    <a:pt x="785777" y="20759"/>
                  </a:cubicBezTo>
                  <a:lnTo>
                    <a:pt x="785777" y="1281597"/>
                  </a:lnTo>
                  <a:cubicBezTo>
                    <a:pt x="785777" y="1287103"/>
                    <a:pt x="783589" y="1292383"/>
                    <a:pt x="779696" y="1296276"/>
                  </a:cubicBezTo>
                  <a:cubicBezTo>
                    <a:pt x="775803" y="1300169"/>
                    <a:pt x="770523" y="1302357"/>
                    <a:pt x="765017" y="1302357"/>
                  </a:cubicBezTo>
                  <a:lnTo>
                    <a:pt x="20759" y="1302357"/>
                  </a:lnTo>
                  <a:cubicBezTo>
                    <a:pt x="15254" y="1302357"/>
                    <a:pt x="9973" y="1300169"/>
                    <a:pt x="6080" y="1296276"/>
                  </a:cubicBezTo>
                  <a:cubicBezTo>
                    <a:pt x="2187" y="1292383"/>
                    <a:pt x="0" y="1287103"/>
                    <a:pt x="0" y="1281597"/>
                  </a:cubicBezTo>
                  <a:lnTo>
                    <a:pt x="0" y="20759"/>
                  </a:lnTo>
                  <a:cubicBezTo>
                    <a:pt x="0" y="15254"/>
                    <a:pt x="2187" y="9973"/>
                    <a:pt x="6080" y="6080"/>
                  </a:cubicBezTo>
                  <a:cubicBezTo>
                    <a:pt x="9973" y="2187"/>
                    <a:pt x="15254" y="0"/>
                    <a:pt x="20759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85777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62514" y="5189239"/>
            <a:ext cx="2828322" cy="2946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Geofencing with 50m precision.  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 Facial recognition (anti-spoofing).  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 Role-based access control (RBAC).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b="1" dirty="0">
              <a:solidFill>
                <a:srgbClr val="D4F6E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04703" y="5099915"/>
            <a:ext cx="2564529" cy="15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Offline mode (cache facial data locally).</a:t>
            </a:r>
          </a:p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Automated PDF reports for faculty.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 b="1" dirty="0">
              <a:solidFill>
                <a:srgbClr val="D4F6E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82200" y="5079231"/>
            <a:ext cx="2701120" cy="12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Multi-language support (English/Spanish).  </a:t>
            </a:r>
          </a:p>
          <a:p>
            <a:pPr marL="285750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 Dark mode UI.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388170" y="4028229"/>
            <a:ext cx="3456515" cy="4944885"/>
            <a:chOff x="0" y="0"/>
            <a:chExt cx="785777" cy="13023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85777" cy="1302357"/>
            </a:xfrm>
            <a:custGeom>
              <a:avLst/>
              <a:gdLst/>
              <a:ahLst/>
              <a:cxnLst/>
              <a:rect l="l" t="t" r="r" b="b"/>
              <a:pathLst>
                <a:path w="785777" h="1302357">
                  <a:moveTo>
                    <a:pt x="20759" y="0"/>
                  </a:moveTo>
                  <a:lnTo>
                    <a:pt x="765017" y="0"/>
                  </a:lnTo>
                  <a:cubicBezTo>
                    <a:pt x="776482" y="0"/>
                    <a:pt x="785777" y="9294"/>
                    <a:pt x="785777" y="20759"/>
                  </a:cubicBezTo>
                  <a:lnTo>
                    <a:pt x="785777" y="1281597"/>
                  </a:lnTo>
                  <a:cubicBezTo>
                    <a:pt x="785777" y="1287103"/>
                    <a:pt x="783589" y="1292383"/>
                    <a:pt x="779696" y="1296276"/>
                  </a:cubicBezTo>
                  <a:cubicBezTo>
                    <a:pt x="775803" y="1300169"/>
                    <a:pt x="770523" y="1302357"/>
                    <a:pt x="765017" y="1302357"/>
                  </a:cubicBezTo>
                  <a:lnTo>
                    <a:pt x="20759" y="1302357"/>
                  </a:lnTo>
                  <a:cubicBezTo>
                    <a:pt x="15254" y="1302357"/>
                    <a:pt x="9973" y="1300169"/>
                    <a:pt x="6080" y="1296276"/>
                  </a:cubicBezTo>
                  <a:cubicBezTo>
                    <a:pt x="2187" y="1292383"/>
                    <a:pt x="0" y="1287103"/>
                    <a:pt x="0" y="1281597"/>
                  </a:cubicBezTo>
                  <a:lnTo>
                    <a:pt x="0" y="20759"/>
                  </a:lnTo>
                  <a:cubicBezTo>
                    <a:pt x="0" y="15254"/>
                    <a:pt x="2187" y="9973"/>
                    <a:pt x="6080" y="6080"/>
                  </a:cubicBezTo>
                  <a:cubicBezTo>
                    <a:pt x="9973" y="2187"/>
                    <a:pt x="15254" y="0"/>
                    <a:pt x="20759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85777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455671" y="5129212"/>
            <a:ext cx="2684164" cy="61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</a:t>
            </a:r>
            <a:r>
              <a:rPr lang="en-US" sz="1800" b="1" dirty="0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ltitude Measurement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47D4790A-09B9-43B4-9C6D-4B04C5BE50C0}"/>
              </a:ext>
            </a:extLst>
          </p:cNvPr>
          <p:cNvSpPr txBox="1"/>
          <p:nvPr/>
        </p:nvSpPr>
        <p:spPr>
          <a:xfrm>
            <a:off x="2089090" y="4361604"/>
            <a:ext cx="2915994" cy="35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400" b="1" u="sng" dirty="0">
                <a:solidFill>
                  <a:schemeClr val="bg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Must Have (critical)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2EC4AF46-CBEE-4435-A424-7256836D31D6}"/>
              </a:ext>
            </a:extLst>
          </p:cNvPr>
          <p:cNvSpPr txBox="1"/>
          <p:nvPr/>
        </p:nvSpPr>
        <p:spPr>
          <a:xfrm>
            <a:off x="6057660" y="4198779"/>
            <a:ext cx="3086339" cy="35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en-US" sz="2400" b="1" u="sng" dirty="0" err="1">
                <a:solidFill>
                  <a:schemeClr val="bg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ShouldHave</a:t>
            </a:r>
            <a:r>
              <a:rPr lang="en-US" sz="2400" b="1" u="sng" dirty="0">
                <a:solidFill>
                  <a:schemeClr val="bg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(flexible)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DC98E1AE-C7AD-4BF6-ABCD-65859920014C}"/>
              </a:ext>
            </a:extLst>
          </p:cNvPr>
          <p:cNvSpPr txBox="1"/>
          <p:nvPr/>
        </p:nvSpPr>
        <p:spPr>
          <a:xfrm>
            <a:off x="9699825" y="4226508"/>
            <a:ext cx="3456515" cy="724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400" b="1" u="sng" dirty="0">
                <a:solidFill>
                  <a:schemeClr val="bg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Could Have(nice to have) 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2393A773-8CB0-45D5-8D54-A2E4801C01C6}"/>
              </a:ext>
            </a:extLst>
          </p:cNvPr>
          <p:cNvSpPr txBox="1"/>
          <p:nvPr/>
        </p:nvSpPr>
        <p:spPr>
          <a:xfrm>
            <a:off x="13455671" y="4208304"/>
            <a:ext cx="3389014" cy="724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400" b="1" u="sng" dirty="0">
                <a:solidFill>
                  <a:schemeClr val="bg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Won’t Have(Future works) </a:t>
            </a:r>
          </a:p>
        </p:txBody>
      </p:sp>
    </p:spTree>
  </p:cSld>
  <p:clrMapOvr>
    <a:masterClrMapping/>
  </p:clrMapOvr>
  <p:transition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1376" y="2217788"/>
            <a:ext cx="6567924" cy="5851423"/>
          </a:xfrm>
          <a:custGeom>
            <a:avLst/>
            <a:gdLst/>
            <a:ahLst/>
            <a:cxnLst/>
            <a:rect l="l" t="t" r="r" b="b"/>
            <a:pathLst>
              <a:path w="6567924" h="5851423">
                <a:moveTo>
                  <a:pt x="0" y="0"/>
                </a:moveTo>
                <a:lnTo>
                  <a:pt x="6567924" y="0"/>
                </a:lnTo>
                <a:lnTo>
                  <a:pt x="6567924" y="5851424"/>
                </a:lnTo>
                <a:lnTo>
                  <a:pt x="0" y="5851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28700" y="238684"/>
            <a:ext cx="7924800" cy="396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413"/>
              </a:lnSpc>
            </a:pPr>
            <a:r>
              <a:rPr lang="en-US" sz="8900" b="1" spc="-409">
                <a:solidFill>
                  <a:srgbClr val="F5F6F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Functional Requirements &amp; 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57902" y="4895880"/>
            <a:ext cx="6140551" cy="193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Functional Requirements: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User Registration/Login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Facial recognition &amp; GPS validation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Record attendance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Admin panel &amp; analytics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endParaRPr lang="en-US" sz="1600" b="1">
              <a:solidFill>
                <a:srgbClr val="FBF6F1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 b="1">
              <a:solidFill>
                <a:srgbClr val="FBF6F1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19200" y="5106913"/>
            <a:ext cx="1676876" cy="124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57902" y="7173081"/>
            <a:ext cx="6140551" cy="1654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Key Features</a:t>
            </a:r>
          </a:p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Real-time tracking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Notifications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Report generation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RBAC (Role-Based Access Control)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 b="1">
              <a:solidFill>
                <a:srgbClr val="F5F6F7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9200" y="7256752"/>
            <a:ext cx="1676876" cy="124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02.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7437" y="4828098"/>
            <a:ext cx="12853125" cy="272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8B6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Performance, reliability, and scalability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8B6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Usability &amp; security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8B6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Maintainability &amp; portability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8B6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Cost and recovery considerations</a:t>
            </a:r>
          </a:p>
          <a:p>
            <a:pPr algn="r">
              <a:lnSpc>
                <a:spcPts val="5370"/>
              </a:lnSpc>
            </a:pPr>
            <a:endParaRPr lang="en-US" sz="3000" b="1">
              <a:solidFill>
                <a:srgbClr val="38B6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63109" y="1695425"/>
            <a:ext cx="8561781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100"/>
              </a:lnSpc>
            </a:pPr>
            <a:r>
              <a:rPr lang="en-US" sz="9000" b="1" spc="-413">
                <a:solidFill>
                  <a:srgbClr val="0097B2"/>
                </a:solidFill>
                <a:latin typeface="Raleway Bold"/>
                <a:ea typeface="Raleway Bold"/>
                <a:cs typeface="Raleway Bold"/>
                <a:sym typeface="Raleway Bold"/>
              </a:rPr>
              <a:t>Non-Functional Requirements</a:t>
            </a: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372" y="8084666"/>
            <a:ext cx="5277926" cy="4404669"/>
          </a:xfrm>
          <a:custGeom>
            <a:avLst/>
            <a:gdLst/>
            <a:ahLst/>
            <a:cxnLst/>
            <a:rect l="l" t="t" r="r" b="b"/>
            <a:pathLst>
              <a:path w="5277926" h="4404669">
                <a:moveTo>
                  <a:pt x="0" y="0"/>
                </a:moveTo>
                <a:lnTo>
                  <a:pt x="5277926" y="0"/>
                </a:lnTo>
                <a:lnTo>
                  <a:pt x="5277926" y="4404668"/>
                </a:lnTo>
                <a:lnTo>
                  <a:pt x="0" y="440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302276" y="-2383108"/>
            <a:ext cx="4661953" cy="4748285"/>
          </a:xfrm>
          <a:custGeom>
            <a:avLst/>
            <a:gdLst/>
            <a:ahLst/>
            <a:cxnLst/>
            <a:rect l="l" t="t" r="r" b="b"/>
            <a:pathLst>
              <a:path w="4661953" h="4748285">
                <a:moveTo>
                  <a:pt x="0" y="0"/>
                </a:moveTo>
                <a:lnTo>
                  <a:pt x="4661952" y="0"/>
                </a:lnTo>
                <a:lnTo>
                  <a:pt x="4661952" y="4748285"/>
                </a:lnTo>
                <a:lnTo>
                  <a:pt x="0" y="47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971800" y="342900"/>
            <a:ext cx="14561195" cy="1260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ts val="111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461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Medium"/>
                <a:ea typeface="Raleway Medium"/>
                <a:cs typeface="Raleway Medium"/>
                <a:sym typeface="Raleway Medium"/>
              </a:rPr>
              <a:t>Software Requirement Specification (SRS)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14600" y="2972937"/>
            <a:ext cx="11599094" cy="473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1. Introduction : 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Purpose: "Automate attendance using geofencing + facial recognition."  </a:t>
            </a:r>
          </a:p>
          <a:p>
            <a:pPr marL="342900" marR="0" lvl="0" indent="-34290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 Scope: Covers student check-in, faculty dashboard, admin controls. </a:t>
            </a:r>
          </a:p>
          <a:p>
            <a:pPr marR="0" lvl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D4F6EC"/>
              </a:solidFill>
              <a:effectLst/>
              <a:uLnTx/>
              <a:uFillTx/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0" marR="0" lvl="0" indent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2. Functional Requirements :  </a:t>
            </a:r>
          </a:p>
          <a:p>
            <a:pPr marL="342900" marR="0" lvl="0" indent="-34290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Use Case Diagram: Student scans face → System logs attendance. </a:t>
            </a:r>
          </a:p>
          <a:p>
            <a:pPr marR="0" lvl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D4F6EC"/>
              </a:solidFill>
              <a:effectLst/>
              <a:uLnTx/>
              <a:uFillTx/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0" marR="0" lvl="0" indent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3. Non-Functional Requirements :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Scalability: Support 1,000+ concurrent users. </a:t>
            </a:r>
          </a:p>
          <a:p>
            <a:pPr marR="0" lvl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R="0" lvl="0" algn="l" defTabSz="914400" rtl="0" eaLnBrk="1" fontAlgn="auto" latinLnBrk="0" hangingPunct="1">
              <a:lnSpc>
                <a:spcPts val="308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D4F6EC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4. Constraints :</a:t>
            </a:r>
          </a:p>
          <a:p>
            <a:pPr marL="342900" indent="-342900">
              <a:lnSpc>
                <a:spcPts val="308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 Semi-Bold"/>
                <a:ea typeface="Raleway Semi-Bold"/>
                <a:cs typeface="Raleway Semi-Bold"/>
                <a:sym typeface="Raleway Semi-Bold"/>
              </a:rPr>
              <a:t>Hardware: Requires GPS + front camera. </a:t>
            </a:r>
          </a:p>
        </p:txBody>
      </p:sp>
    </p:spTree>
    <p:extLst>
      <p:ext uri="{BB962C8B-B14F-4D97-AF65-F5344CB8AC3E}">
        <p14:creationId xmlns:p14="http://schemas.microsoft.com/office/powerpoint/2010/main" val="3804400613"/>
      </p:ext>
    </p:extLst>
  </p:cSld>
  <p:clrMapOvr>
    <a:masterClrMapping/>
  </p:clrMapOvr>
  <p:transition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2431128"/>
            <a:ext cx="7924800" cy="239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Verification &amp;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5743527"/>
            <a:ext cx="7635008" cy="359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Stakeholder input form created using Google Forms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Shared with students &amp; lecturers in Computer Engineering Department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5F6F7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Responses used to validate functional expectations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F5F6F7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167540" y="1529149"/>
            <a:ext cx="6663549" cy="7228702"/>
          </a:xfrm>
          <a:custGeom>
            <a:avLst/>
            <a:gdLst/>
            <a:ahLst/>
            <a:cxnLst/>
            <a:rect l="l" t="t" r="r" b="b"/>
            <a:pathLst>
              <a:path w="6663549" h="7228702">
                <a:moveTo>
                  <a:pt x="0" y="0"/>
                </a:moveTo>
                <a:lnTo>
                  <a:pt x="6663549" y="0"/>
                </a:lnTo>
                <a:lnTo>
                  <a:pt x="6663549" y="7228702"/>
                </a:lnTo>
                <a:lnTo>
                  <a:pt x="0" y="722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538802"/>
            <a:ext cx="6785199" cy="441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640"/>
              </a:lnSpc>
            </a:pPr>
            <a:r>
              <a:rPr lang="en-US" sz="8000" b="1" spc="-368">
                <a:solidFill>
                  <a:srgbClr val="D4F6E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Technical Constraints &amp; Feasibility Assessment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6347777"/>
            <a:ext cx="7635008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Constraints:</a:t>
            </a: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GPS permission issues</a:t>
            </a: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Facial detection lighting sensitivity</a:t>
            </a: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Mobile OS compatibility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FBF6F1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167540" y="1529149"/>
            <a:ext cx="6663549" cy="7228702"/>
          </a:xfrm>
          <a:custGeom>
            <a:avLst/>
            <a:gdLst/>
            <a:ahLst/>
            <a:cxnLst/>
            <a:rect l="l" t="t" r="r" b="b"/>
            <a:pathLst>
              <a:path w="6663549" h="7228702">
                <a:moveTo>
                  <a:pt x="0" y="0"/>
                </a:moveTo>
                <a:lnTo>
                  <a:pt x="6663549" y="0"/>
                </a:lnTo>
                <a:lnTo>
                  <a:pt x="6663549" y="7228702"/>
                </a:lnTo>
                <a:lnTo>
                  <a:pt x="0" y="722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219200" y="8244522"/>
            <a:ext cx="7635008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Feasibility:</a:t>
            </a: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Technically feasible with existing tools</a:t>
            </a:r>
          </a:p>
          <a:p>
            <a:pPr marL="474981" lvl="1" indent="-237491" algn="l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b="1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Economically viable with open-source libraries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FBF6F1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  <p:transition>
    <p:cover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D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3950" y="1304925"/>
            <a:ext cx="16040100" cy="124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0097B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787441" y="3974762"/>
            <a:ext cx="12967571" cy="3716149"/>
            <a:chOff x="0" y="0"/>
            <a:chExt cx="2891181" cy="8285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1181" cy="828533"/>
            </a:xfrm>
            <a:custGeom>
              <a:avLst/>
              <a:gdLst/>
              <a:ahLst/>
              <a:cxnLst/>
              <a:rect l="l" t="t" r="r" b="b"/>
              <a:pathLst>
                <a:path w="2891181" h="828533">
                  <a:moveTo>
                    <a:pt x="4776" y="0"/>
                  </a:moveTo>
                  <a:lnTo>
                    <a:pt x="2886404" y="0"/>
                  </a:lnTo>
                  <a:cubicBezTo>
                    <a:pt x="2887671" y="0"/>
                    <a:pt x="2888886" y="503"/>
                    <a:pt x="2889782" y="1399"/>
                  </a:cubicBezTo>
                  <a:cubicBezTo>
                    <a:pt x="2890677" y="2295"/>
                    <a:pt x="2891181" y="3509"/>
                    <a:pt x="2891181" y="4776"/>
                  </a:cubicBezTo>
                  <a:lnTo>
                    <a:pt x="2891181" y="823757"/>
                  </a:lnTo>
                  <a:cubicBezTo>
                    <a:pt x="2891181" y="825023"/>
                    <a:pt x="2890677" y="826238"/>
                    <a:pt x="2889782" y="827134"/>
                  </a:cubicBezTo>
                  <a:cubicBezTo>
                    <a:pt x="2888886" y="828030"/>
                    <a:pt x="2887671" y="828533"/>
                    <a:pt x="2886404" y="828533"/>
                  </a:cubicBezTo>
                  <a:lnTo>
                    <a:pt x="4776" y="828533"/>
                  </a:lnTo>
                  <a:cubicBezTo>
                    <a:pt x="3509" y="828533"/>
                    <a:pt x="2295" y="828030"/>
                    <a:pt x="1399" y="827134"/>
                  </a:cubicBezTo>
                  <a:cubicBezTo>
                    <a:pt x="503" y="826238"/>
                    <a:pt x="0" y="825023"/>
                    <a:pt x="0" y="823757"/>
                  </a:cubicBezTo>
                  <a:lnTo>
                    <a:pt x="0" y="4776"/>
                  </a:lnTo>
                  <a:cubicBezTo>
                    <a:pt x="0" y="3509"/>
                    <a:pt x="503" y="2295"/>
                    <a:pt x="1399" y="1399"/>
                  </a:cubicBezTo>
                  <a:cubicBezTo>
                    <a:pt x="2295" y="503"/>
                    <a:pt x="3509" y="0"/>
                    <a:pt x="4776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91181" cy="866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76217" y="4920617"/>
            <a:ext cx="10535567" cy="148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9077" lvl="1" indent="-229539" algn="just">
              <a:lnSpc>
                <a:spcPts val="2976"/>
              </a:lnSpc>
              <a:buFont typeface="Arial"/>
              <a:buChar char="•"/>
            </a:pPr>
            <a:r>
              <a:rPr lang="en-US" sz="2126" b="1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Task accomplished: Captured complete SRS</a:t>
            </a:r>
          </a:p>
          <a:p>
            <a:pPr marL="459077" lvl="1" indent="-229539" algn="just">
              <a:lnSpc>
                <a:spcPts val="2976"/>
              </a:lnSpc>
              <a:buFont typeface="Arial"/>
              <a:buChar char="•"/>
            </a:pPr>
            <a:r>
              <a:rPr lang="en-US" sz="2126" b="1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Foundation for design &amp; development set</a:t>
            </a:r>
          </a:p>
          <a:p>
            <a:pPr marL="459077" lvl="1" indent="-229539" algn="just">
              <a:lnSpc>
                <a:spcPts val="2976"/>
              </a:lnSpc>
              <a:buFont typeface="Arial"/>
              <a:buChar char="•"/>
            </a:pPr>
            <a:r>
              <a:rPr lang="en-US" sz="2126" b="1">
                <a:solidFill>
                  <a:srgbClr val="D4F6EC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High potential for real-world impact</a:t>
            </a: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126" b="1">
              <a:solidFill>
                <a:srgbClr val="D4F6EC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  <p:transition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23791" y="-783256"/>
            <a:ext cx="11853512" cy="11853512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9200" y="2646761"/>
            <a:ext cx="8144502" cy="5212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b="1" spc="-681">
                <a:solidFill>
                  <a:srgbClr val="0C698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very much!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1104900"/>
            <a:ext cx="9179504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>
                <a:solidFill>
                  <a:srgbClr val="0C698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Presented by Group 12</a:t>
            </a:r>
          </a:p>
        </p:txBody>
      </p:sp>
      <p:sp>
        <p:nvSpPr>
          <p:cNvPr id="5" name="Freeform 5"/>
          <p:cNvSpPr/>
          <p:nvPr/>
        </p:nvSpPr>
        <p:spPr>
          <a:xfrm>
            <a:off x="11867657" y="1376536"/>
            <a:ext cx="5561408" cy="7533927"/>
          </a:xfrm>
          <a:custGeom>
            <a:avLst/>
            <a:gdLst/>
            <a:ahLst/>
            <a:cxnLst/>
            <a:rect l="l" t="t" r="r" b="b"/>
            <a:pathLst>
              <a:path w="5561408" h="7533927">
                <a:moveTo>
                  <a:pt x="0" y="0"/>
                </a:moveTo>
                <a:lnTo>
                  <a:pt x="5561408" y="0"/>
                </a:lnTo>
                <a:lnTo>
                  <a:pt x="5561408" y="7533928"/>
                </a:lnTo>
                <a:lnTo>
                  <a:pt x="0" y="753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>
    <p:cover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587</Words>
  <Application>Microsoft Office PowerPoint</Application>
  <PresentationFormat>Custom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 Medium</vt:lpstr>
      <vt:lpstr>Raleway Semi-Bold</vt:lpstr>
      <vt:lpstr>Arial</vt:lpstr>
      <vt:lpstr>Raleway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Purpose</dc:title>
  <cp:lastModifiedBy>KASEY</cp:lastModifiedBy>
  <cp:revision>4</cp:revision>
  <dcterms:created xsi:type="dcterms:W3CDTF">2006-08-16T00:00:00Z</dcterms:created>
  <dcterms:modified xsi:type="dcterms:W3CDTF">2025-05-15T19:27:43Z</dcterms:modified>
  <dc:identifier>DAGmUojqnT8</dc:identifier>
</cp:coreProperties>
</file>